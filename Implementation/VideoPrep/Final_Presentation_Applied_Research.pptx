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58000" cy="9144000"/>
  <p:embeddedFontLs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2" roundtripDataSignature="AMtx7mirCHEt+U/h51Eo4ZrXAdhP1jZ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Mon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b5a4a3928_0_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3ab5a4a3928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g3ab5a4a3928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b5a4a3928_3_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ab5a4a3928_3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3ab5a4a3928_3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b5a4a3928_0_1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g3ab5a4a3928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Many organizations use HR SaaS platforms such as Dayforce for payroll, scheduling, and employee records.</a:t>
            </a:r>
            <a:endParaRPr/>
          </a:p>
          <a:p>
            <a:pPr indent="0" lvl="0" marL="0" rtl="0" algn="l">
              <a:lnSpc>
                <a:spcPct val="115000"/>
              </a:lnSpc>
              <a:spcBef>
                <a:spcPts val="1200"/>
              </a:spcBef>
              <a:spcAft>
                <a:spcPts val="0"/>
              </a:spcAft>
              <a:buSzPts val="1100"/>
              <a:buNone/>
            </a:pPr>
            <a:r>
              <a:rPr lang="en-US"/>
              <a:t>These systems are very good for daily operations, but they are not designed to preserve detailed historical data. When employees change departments or leave, older records are often overwritten or deleted.</a:t>
            </a:r>
            <a:endParaRPr/>
          </a:p>
          <a:p>
            <a:pPr indent="0" lvl="0" marL="0" rtl="0" algn="l">
              <a:lnSpc>
                <a:spcPct val="115000"/>
              </a:lnSpc>
              <a:spcBef>
                <a:spcPts val="1200"/>
              </a:spcBef>
              <a:spcAft>
                <a:spcPts val="1200"/>
              </a:spcAft>
              <a:buSzPts val="1100"/>
              <a:buNone/>
            </a:pPr>
            <a:r>
              <a:rPr lang="en-US"/>
              <a:t>Teams usually export CSV files into BI tools, but those are manual snapshots and not a structured historical store. Because of this, it becomes hard to answer long term questions about turnover, promotion patterns, and salary progression.</a:t>
            </a:r>
            <a:endParaRPr/>
          </a:p>
        </p:txBody>
      </p:sp>
      <p:sp>
        <p:nvSpPr>
          <p:cNvPr id="92" name="Google Shape;92;g3ab5a4a3928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b5a4a3928_3_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ab5a4a3928_3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goal is to design and implement an end-to-end solution that preserves historical HR data and supports workforce analytics.</a:t>
            </a:r>
            <a:endParaRPr/>
          </a:p>
          <a:p>
            <a:pPr indent="0" lvl="0" marL="0" rtl="0" algn="l">
              <a:lnSpc>
                <a:spcPct val="115000"/>
              </a:lnSpc>
              <a:spcBef>
                <a:spcPts val="1200"/>
              </a:spcBef>
              <a:spcAft>
                <a:spcPts val="0"/>
              </a:spcAft>
              <a:buClr>
                <a:schemeClr val="dk1"/>
              </a:buClr>
              <a:buSzPts val="1100"/>
              <a:buFont typeface="Arial"/>
              <a:buNone/>
            </a:pPr>
            <a:r>
              <a:rPr lang="en-US"/>
              <a:t>To achieve this, we simulate seven years of monthly HR snapshots using a Kaggle dataset. These snapshots are processed by a Databricks-based pipeline with Bronze, Silver, and Gold layers. In the Gold layer, we apply Slowly Changing Dimensions Type 2 and a Kimball-style dimensional model to track employee history.</a:t>
            </a:r>
            <a:endParaRPr/>
          </a:p>
          <a:p>
            <a:pPr indent="0" lvl="0" marL="0" rtl="0" algn="l">
              <a:lnSpc>
                <a:spcPct val="115000"/>
              </a:lnSpc>
              <a:spcBef>
                <a:spcPts val="1200"/>
              </a:spcBef>
              <a:spcAft>
                <a:spcPts val="1200"/>
              </a:spcAft>
              <a:buSzPts val="1100"/>
              <a:buNone/>
            </a:pPr>
            <a:r>
              <a:rPr lang="en-US"/>
              <a:t>On top of the Gold tables, we built a Dash web application for interactive analysis, and we also show that the same curated data can power Power BI and CSV-based analysis using a single, consistent data model.</a:t>
            </a:r>
            <a:endParaRPr/>
          </a:p>
        </p:txBody>
      </p:sp>
      <p:sp>
        <p:nvSpPr>
          <p:cNvPr id="99" name="Google Shape;99;g3ab5a4a3928_3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b5a4a3928_0_8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ab5a4a3928_0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ab5a4a3928_0_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bca90f916_0_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abca90f916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abca90f916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bca90f916_0_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abca90f916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abca90f916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b5a4a3928_1_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3ab5a4a3928_1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3ab5a4a3928_1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b5a4a3928_1_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ab5a4a3928_1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3ab5a4a3928_1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ba727a19d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3aba727a19d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aba727a19d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b5a4a3928_1_8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ab5a4a3928_1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ab5a4a3928_1_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b5a4a3928_0_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ab5a4a3928_0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figure shows the full workflow we used to create the dataset for our project.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start from a Kaggle HR dataset that contains information on about two million employees. First, we perform exploratory data analysis to understand the structure and quality of the data, including data types, missing values, distributions, and obvious outliers.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Based on that, we run a data cleaning step. We remove columns that are not relevant for our objectives, correct unrealistic salary values, and standardize important fields such as dates and numeric variables.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From the cleaned dataset, we create an initial employee snapshot by sampling around five thousand employees to represent a mid-sized company. We also derive a job level attribute from years of experience and check that the distribution of employees across job levels looks realistic.</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Next, we define simulation rules that control how the company evolves over time. These include hiring rates, exit probabilities, promotion patterns, department changes, and typical salary increase percentages.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Finally, we apply these rules month by month to generate eighty-four monthly snapshots, which represent seven years of company history. Each snapshot is saved as a CSV file in a year and month folder structure, such as </a:t>
            </a:r>
            <a:r>
              <a:rPr lang="en-US" sz="1100">
                <a:solidFill>
                  <a:srgbClr val="188038"/>
                </a:solidFill>
                <a:latin typeface="Roboto Mono"/>
                <a:ea typeface="Roboto Mono"/>
                <a:cs typeface="Roboto Mono"/>
                <a:sym typeface="Roboto Mono"/>
              </a:rPr>
              <a:t>data/2023/05/file.csv</a:t>
            </a:r>
            <a:r>
              <a:rPr lang="en-US" sz="1100">
                <a:latin typeface="Arial"/>
                <a:ea typeface="Arial"/>
                <a:cs typeface="Arial"/>
                <a:sym typeface="Arial"/>
              </a:rPr>
              <a:t>. These CSVs are what our data engineering pipeline ingests into the Bronze layer in Databricks.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61" name="Google Shape;161;g3ab5a4a3928_0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b5a4a3928_0_6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ab5a4a3928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In the Bronze layer, we treat the CSV snapshots as raw data. The Bronze notebook scans the year and month folders, finds any new CSV files, and appends their records into a Bronze Delta table. We add an ingestion timestamp and preserve the original structure so we can always trace back to the source export.</a:t>
            </a:r>
            <a:endParaRPr/>
          </a:p>
          <a:p>
            <a:pPr indent="0" lvl="0" marL="0" rtl="0" algn="l">
              <a:lnSpc>
                <a:spcPct val="115000"/>
              </a:lnSpc>
              <a:spcBef>
                <a:spcPts val="1200"/>
              </a:spcBef>
              <a:spcAft>
                <a:spcPts val="0"/>
              </a:spcAft>
              <a:buClr>
                <a:schemeClr val="dk1"/>
              </a:buClr>
              <a:buSzPts val="1100"/>
              <a:buFont typeface="Arial"/>
              <a:buNone/>
            </a:pPr>
            <a:r>
              <a:rPr lang="en-US"/>
              <a:t>The Silver layer is responsible for cleaning and historical tracking. It reads only new records from Bronze, standardizes column names and data types, and addresses data quality issues such as missing values and duplicates.</a:t>
            </a:r>
            <a:endParaRPr/>
          </a:p>
          <a:p>
            <a:pPr indent="0" lvl="0" marL="0" rtl="0" algn="l">
              <a:lnSpc>
                <a:spcPct val="115000"/>
              </a:lnSpc>
              <a:spcBef>
                <a:spcPts val="1200"/>
              </a:spcBef>
              <a:spcAft>
                <a:spcPts val="1200"/>
              </a:spcAft>
              <a:buSzPts val="1100"/>
              <a:buNone/>
            </a:pPr>
            <a:r>
              <a:rPr lang="en-US"/>
              <a:t>This is also where we implement Slowly Changing Dimensions Type 2. When an employee’s department, job title, location, or employment status changes, we create a new version of the record, close the previous one with a valid-to date, and keep a flag indicating which version is current. This allows us to reconstruct the workforce at any point in time.</a:t>
            </a:r>
            <a:endParaRPr/>
          </a:p>
        </p:txBody>
      </p:sp>
      <p:sp>
        <p:nvSpPr>
          <p:cNvPr id="169" name="Google Shape;169;g3ab5a4a3928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b5a4a3928_0_7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ab5a4a3928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The Gold layer organizes the historized data from Silver into a dimensional model.</a:t>
            </a:r>
            <a:endParaRPr/>
          </a:p>
          <a:p>
            <a:pPr indent="0" lvl="0" marL="0" rtl="0" algn="l">
              <a:lnSpc>
                <a:spcPct val="115000"/>
              </a:lnSpc>
              <a:spcBef>
                <a:spcPts val="1200"/>
              </a:spcBef>
              <a:spcAft>
                <a:spcPts val="0"/>
              </a:spcAft>
              <a:buClr>
                <a:schemeClr val="dk1"/>
              </a:buClr>
              <a:buSzPts val="1100"/>
              <a:buFont typeface="Arial"/>
              <a:buNone/>
            </a:pPr>
            <a:r>
              <a:rPr lang="en-US"/>
              <a:t>We have dimension tables for departments, job titles, locations, job levels, status, and work mode, and a central fact table that links to these dimensions and stores measures like salary, experience, performance ratings, and key dates. It also includes SCD Type 2 fields for current and historical versions.</a:t>
            </a:r>
            <a:endParaRPr/>
          </a:p>
          <a:p>
            <a:pPr indent="0" lvl="0" marL="0" rtl="0" algn="l">
              <a:lnSpc>
                <a:spcPct val="115000"/>
              </a:lnSpc>
              <a:spcBef>
                <a:spcPts val="1200"/>
              </a:spcBef>
              <a:spcAft>
                <a:spcPts val="1200"/>
              </a:spcAft>
              <a:buSzPts val="1100"/>
              <a:buNone/>
            </a:pPr>
            <a:r>
              <a:rPr lang="en-US"/>
              <a:t>The Databricks Job that we just ran automates the sequence Bronze → Silver → Gold. It can be scheduled so that whenever new monthly snapshots are dropped into storage, the pipeline updates the Gold tables that our dashboards and BI tools use</a:t>
            </a:r>
            <a:endParaRPr/>
          </a:p>
        </p:txBody>
      </p:sp>
      <p:sp>
        <p:nvSpPr>
          <p:cNvPr id="176" name="Google Shape;176;g3ab5a4a3928_0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b5a4a3928_1_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ab5a4a3928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ab5a4a3928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b5a4a3928_1_5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ab5a4a3928_1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ab5a4a3928_1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b5a4a3928_1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ab5a4a3928_1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ab5a4a3928_1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b5a4a3928_0_6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ab5a4a3928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ab5a4a3928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b5a4a3928_3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ab5a4a3928_3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We learned that even though our dataset was simulated, we still had to treat it like real data. Cleaning, validating, and simulating realistic behavior took significant effort.</a:t>
            </a:r>
            <a:endParaRPr/>
          </a:p>
          <a:p>
            <a:pPr indent="0" lvl="0" marL="0" rtl="0" algn="l">
              <a:spcBef>
                <a:spcPts val="0"/>
              </a:spcBef>
              <a:spcAft>
                <a:spcPts val="0"/>
              </a:spcAft>
              <a:buClr>
                <a:schemeClr val="dk1"/>
              </a:buClr>
              <a:buSzPts val="1100"/>
              <a:buFont typeface="Arial"/>
              <a:buNone/>
            </a:pPr>
            <a:r>
              <a:rPr lang="en-US"/>
              <a:t>The Medallion Architecture helped us separate concerns between raw ingestion, cleaning and historization, and analytics ready structures. SCD Type 2 and a Kimball model made it possible to answer historical questions, not just see the current state of the workforce.</a:t>
            </a:r>
            <a:endParaRPr/>
          </a:p>
          <a:p>
            <a:pPr indent="0" lvl="0" marL="0" rtl="0" algn="l">
              <a:spcBef>
                <a:spcPts val="0"/>
              </a:spcBef>
              <a:spcAft>
                <a:spcPts val="0"/>
              </a:spcAft>
              <a:buNone/>
            </a:pPr>
            <a:r>
              <a:rPr lang="en-US"/>
              <a:t>For future work, this solution could be connected to real HR data, scheduled and monitored more robustly, secured with anonymization and role-based access, and extended with predictive models. The Dash app could also be deployed in the cloud while continuing to use the Gold layer as the single source of truth.</a:t>
            </a:r>
            <a:endParaRPr/>
          </a:p>
        </p:txBody>
      </p:sp>
      <p:sp>
        <p:nvSpPr>
          <p:cNvPr id="210" name="Google Shape;210;g3ab5a4a3928_3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b5a4a3928_3_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ab5a4a3928_3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a:t>
            </a:r>
            <a:r>
              <a:rPr lang="en-US"/>
              <a:t>n summary, our project designed and implemented an end-to-end HR data engineering solution.</a:t>
            </a:r>
            <a:endParaRPr/>
          </a:p>
          <a:p>
            <a:pPr indent="0" lvl="0" marL="0" rtl="0" algn="l">
              <a:spcBef>
                <a:spcPts val="0"/>
              </a:spcBef>
              <a:spcAft>
                <a:spcPts val="0"/>
              </a:spcAft>
              <a:buClr>
                <a:schemeClr val="dk1"/>
              </a:buClr>
              <a:buSzPts val="1100"/>
              <a:buFont typeface="Arial"/>
              <a:buNone/>
            </a:pPr>
            <a:r>
              <a:rPr lang="en-US"/>
              <a:t>We simulated seven years of workforce history from a Kaggle dataset, processed it through a Databricks Medallion pipeline with SCD Type 2 and a dimensional model in the Gold layer, and developed a Dash dashboard and complementary BI options on top of that data.</a:t>
            </a:r>
            <a:endParaRPr/>
          </a:p>
          <a:p>
            <a:pPr indent="0" lvl="0" marL="0" rtl="0" algn="l">
              <a:spcBef>
                <a:spcPts val="0"/>
              </a:spcBef>
              <a:spcAft>
                <a:spcPts val="0"/>
              </a:spcAft>
              <a:buClr>
                <a:schemeClr val="dk1"/>
              </a:buClr>
              <a:buSzPts val="1100"/>
              <a:buFont typeface="Arial"/>
              <a:buNone/>
            </a:pPr>
            <a:r>
              <a:rPr lang="en-US"/>
              <a:t>Together, these components demonstrate how an organization can preserve historical HR records and turn them into a reusable, analytics ready foundation for workforce planning.</a:t>
            </a:r>
            <a:endParaRPr/>
          </a:p>
          <a:p>
            <a:pPr indent="0" lvl="0" marL="0" rtl="0" algn="l">
              <a:spcBef>
                <a:spcPts val="0"/>
              </a:spcBef>
              <a:spcAft>
                <a:spcPts val="0"/>
              </a:spcAft>
              <a:buNone/>
            </a:pPr>
            <a:r>
              <a:rPr lang="en-US"/>
              <a:t>Thank you for listening. We are happy to answer any questions.</a:t>
            </a:r>
            <a:endParaRPr/>
          </a:p>
        </p:txBody>
      </p:sp>
      <p:sp>
        <p:nvSpPr>
          <p:cNvPr id="217" name="Google Shape;217;g3ab5a4a3928_3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b5a4a3928_1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g3ab5a4a3928_1_7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b5a4a3928_1_7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ab5a4a3928_1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ab5a4a3928_1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Welcome Slide" showMasterSp="0">
  <p:cSld name="DC Welcome Slide">
    <p:bg>
      <p:bgPr>
        <a:blipFill>
          <a:blip r:embed="rId2">
            <a:alphaModFix amt="0"/>
          </a:blip>
          <a:stretch>
            <a:fillRect/>
          </a:stretch>
        </a:blipFill>
      </p:bgPr>
    </p:bg>
    <p:spTree>
      <p:nvGrpSpPr>
        <p:cNvPr id="16" name="Shape 16"/>
        <p:cNvGrpSpPr/>
        <p:nvPr/>
      </p:nvGrpSpPr>
      <p:grpSpPr>
        <a:xfrm>
          <a:off x="0" y="0"/>
          <a:ext cx="0" cy="0"/>
          <a:chOff x="0" y="0"/>
          <a:chExt cx="0" cy="0"/>
        </a:xfrm>
      </p:grpSpPr>
      <p:pic>
        <p:nvPicPr>
          <p:cNvPr id="17" name="Google Shape;17;p19"/>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18" name="Google Shape;18;p19"/>
          <p:cNvSpPr txBox="1"/>
          <p:nvPr>
            <p:ph idx="1" type="body"/>
          </p:nvPr>
        </p:nvSpPr>
        <p:spPr>
          <a:xfrm>
            <a:off x="400050" y="2308226"/>
            <a:ext cx="3124199" cy="88582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3200"/>
              <a:buNone/>
              <a:defRPr b="1" sz="3200"/>
            </a:lvl1pPr>
            <a:lvl2pPr indent="-228600" lvl="1" marL="914400" algn="l">
              <a:lnSpc>
                <a:spcPct val="100000"/>
              </a:lnSpc>
              <a:spcBef>
                <a:spcPts val="500"/>
              </a:spcBef>
              <a:spcAft>
                <a:spcPts val="0"/>
              </a:spcAft>
              <a:buClr>
                <a:schemeClr val="dk1"/>
              </a:buClr>
              <a:buSzPts val="1800"/>
              <a:buNone/>
              <a:defRPr/>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9"/>
          <p:cNvSpPr txBox="1"/>
          <p:nvPr>
            <p:ph idx="2" type="body"/>
          </p:nvPr>
        </p:nvSpPr>
        <p:spPr>
          <a:xfrm>
            <a:off x="400049" y="3333751"/>
            <a:ext cx="3124201" cy="13144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228600" lvl="1" marL="914400" algn="l">
              <a:lnSpc>
                <a:spcPct val="100000"/>
              </a:lnSpc>
              <a:spcBef>
                <a:spcPts val="500"/>
              </a:spcBef>
              <a:spcAft>
                <a:spcPts val="0"/>
              </a:spcAft>
              <a:buClr>
                <a:schemeClr val="dk1"/>
              </a:buClr>
              <a:buSzPts val="2000"/>
              <a:buNone/>
              <a:defRPr sz="2000"/>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9"/>
          <p:cNvSpPr txBox="1"/>
          <p:nvPr>
            <p:ph idx="3" type="body"/>
          </p:nvPr>
        </p:nvSpPr>
        <p:spPr>
          <a:xfrm>
            <a:off x="4114800" y="4819650"/>
            <a:ext cx="3038475" cy="361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000"/>
              <a:buNone/>
              <a:defRPr sz="2000">
                <a:solidFill>
                  <a:schemeClr val="lt1"/>
                </a:solidFill>
              </a:defRPr>
            </a:lvl1pPr>
            <a:lvl2pPr indent="-228600" lvl="1" marL="914400" algn="l">
              <a:lnSpc>
                <a:spcPct val="100000"/>
              </a:lnSpc>
              <a:spcBef>
                <a:spcPts val="500"/>
              </a:spcBef>
              <a:spcAft>
                <a:spcPts val="0"/>
              </a:spcAft>
              <a:buClr>
                <a:schemeClr val="lt1"/>
              </a:buClr>
              <a:buSzPts val="2000"/>
              <a:buNone/>
              <a:defRPr>
                <a:solidFill>
                  <a:schemeClr val="lt1"/>
                </a:solidFill>
              </a:defRPr>
            </a:lvl2pPr>
            <a:lvl3pPr indent="-228600" lvl="2" marL="1371600" algn="l">
              <a:lnSpc>
                <a:spcPct val="100000"/>
              </a:lnSpc>
              <a:spcBef>
                <a:spcPts val="500"/>
              </a:spcBef>
              <a:spcAft>
                <a:spcPts val="0"/>
              </a:spcAft>
              <a:buClr>
                <a:schemeClr val="lt1"/>
              </a:buClr>
              <a:buSzPts val="1800"/>
              <a:buNone/>
              <a:defRPr>
                <a:solidFill>
                  <a:schemeClr val="lt1"/>
                </a:solidFill>
              </a:defRPr>
            </a:lvl3pPr>
            <a:lvl4pPr indent="-228600" lvl="3" marL="1828800" algn="l">
              <a:lnSpc>
                <a:spcPct val="90000"/>
              </a:lnSpc>
              <a:spcBef>
                <a:spcPts val="500"/>
              </a:spcBef>
              <a:spcAft>
                <a:spcPts val="0"/>
              </a:spcAft>
              <a:buClr>
                <a:schemeClr val="lt1"/>
              </a:buClr>
              <a:buSzPts val="1800"/>
              <a:buNone/>
              <a:defRPr>
                <a:solidFill>
                  <a:schemeClr val="lt1"/>
                </a:solidFill>
              </a:defRPr>
            </a:lvl4pPr>
            <a:lvl5pPr indent="-228600" lvl="4" marL="2286000" algn="l">
              <a:lnSpc>
                <a:spcPct val="90000"/>
              </a:lnSpc>
              <a:spcBef>
                <a:spcPts val="500"/>
              </a:spcBef>
              <a:spcAft>
                <a:spcPts val="0"/>
              </a:spcAft>
              <a:buClr>
                <a:schemeClr val="lt1"/>
              </a:buClr>
              <a:buSzPts val="1800"/>
              <a:buNone/>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19"/>
          <p:cNvSpPr txBox="1"/>
          <p:nvPr>
            <p:ph idx="4" type="body"/>
          </p:nvPr>
        </p:nvSpPr>
        <p:spPr>
          <a:xfrm>
            <a:off x="4124325" y="5219700"/>
            <a:ext cx="3038475" cy="361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1600"/>
              <a:buNone/>
              <a:defRPr b="0" sz="1600">
                <a:solidFill>
                  <a:schemeClr val="lt1"/>
                </a:solidFill>
              </a:defRPr>
            </a:lvl1pPr>
            <a:lvl2pPr indent="-228600" lvl="1" marL="914400" algn="l">
              <a:lnSpc>
                <a:spcPct val="100000"/>
              </a:lnSpc>
              <a:spcBef>
                <a:spcPts val="500"/>
              </a:spcBef>
              <a:spcAft>
                <a:spcPts val="0"/>
              </a:spcAft>
              <a:buClr>
                <a:schemeClr val="lt1"/>
              </a:buClr>
              <a:buSzPts val="2000"/>
              <a:buNone/>
              <a:defRPr>
                <a:solidFill>
                  <a:schemeClr val="lt1"/>
                </a:solidFill>
              </a:defRPr>
            </a:lvl2pPr>
            <a:lvl3pPr indent="-228600" lvl="2" marL="1371600" algn="l">
              <a:lnSpc>
                <a:spcPct val="100000"/>
              </a:lnSpc>
              <a:spcBef>
                <a:spcPts val="500"/>
              </a:spcBef>
              <a:spcAft>
                <a:spcPts val="0"/>
              </a:spcAft>
              <a:buClr>
                <a:schemeClr val="lt1"/>
              </a:buClr>
              <a:buSzPts val="1800"/>
              <a:buNone/>
              <a:defRPr>
                <a:solidFill>
                  <a:schemeClr val="lt1"/>
                </a:solidFill>
              </a:defRPr>
            </a:lvl3pPr>
            <a:lvl4pPr indent="-228600" lvl="3" marL="1828800" algn="l">
              <a:lnSpc>
                <a:spcPct val="90000"/>
              </a:lnSpc>
              <a:spcBef>
                <a:spcPts val="500"/>
              </a:spcBef>
              <a:spcAft>
                <a:spcPts val="0"/>
              </a:spcAft>
              <a:buClr>
                <a:schemeClr val="lt1"/>
              </a:buClr>
              <a:buSzPts val="1800"/>
              <a:buNone/>
              <a:defRPr>
                <a:solidFill>
                  <a:schemeClr val="lt1"/>
                </a:solidFill>
              </a:defRPr>
            </a:lvl4pPr>
            <a:lvl5pPr indent="-228600" lvl="4" marL="2286000" algn="l">
              <a:lnSpc>
                <a:spcPct val="90000"/>
              </a:lnSpc>
              <a:spcBef>
                <a:spcPts val="500"/>
              </a:spcBef>
              <a:spcAft>
                <a:spcPts val="0"/>
              </a:spcAft>
              <a:buClr>
                <a:schemeClr val="lt1"/>
              </a:buClr>
              <a:buSzPts val="1800"/>
              <a:buNone/>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31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knowledgment page">
  <p:cSld name="Acknowledgment page">
    <p:spTree>
      <p:nvGrpSpPr>
        <p:cNvPr id="22" name="Shape 22"/>
        <p:cNvGrpSpPr/>
        <p:nvPr/>
      </p:nvGrpSpPr>
      <p:grpSpPr>
        <a:xfrm>
          <a:off x="0" y="0"/>
          <a:ext cx="0" cy="0"/>
          <a:chOff x="0" y="0"/>
          <a:chExt cx="0" cy="0"/>
        </a:xfrm>
      </p:grpSpPr>
      <p:pic>
        <p:nvPicPr>
          <p:cNvPr id="23" name="Google Shape;23;p20"/>
          <p:cNvPicPr preferRelativeResize="0"/>
          <p:nvPr/>
        </p:nvPicPr>
        <p:blipFill rotWithShape="1">
          <a:blip r:embed="rId2">
            <a:alphaModFix/>
          </a:blip>
          <a:srcRect b="0" l="0" r="0" t="0"/>
          <a:stretch/>
        </p:blipFill>
        <p:spPr>
          <a:xfrm>
            <a:off x="0" y="0"/>
            <a:ext cx="9144000" cy="685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Title and Content Slide" type="secHead">
  <p:cSld name="SECTION_HEADER">
    <p:spTree>
      <p:nvGrpSpPr>
        <p:cNvPr id="24" name="Shape 24"/>
        <p:cNvGrpSpPr/>
        <p:nvPr/>
      </p:nvGrpSpPr>
      <p:grpSpPr>
        <a:xfrm>
          <a:off x="0" y="0"/>
          <a:ext cx="0" cy="0"/>
          <a:chOff x="0" y="0"/>
          <a:chExt cx="0" cy="0"/>
        </a:xfrm>
      </p:grpSpPr>
      <p:sp>
        <p:nvSpPr>
          <p:cNvPr id="25" name="Google Shape;25;p21"/>
          <p:cNvSpPr txBox="1"/>
          <p:nvPr>
            <p:ph type="title"/>
          </p:nvPr>
        </p:nvSpPr>
        <p:spPr>
          <a:xfrm>
            <a:off x="438149" y="1352551"/>
            <a:ext cx="8429624" cy="695324"/>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C2D500"/>
              </a:buClr>
              <a:buSzPts val="3200"/>
              <a:buFont typeface="Arial"/>
              <a:buNone/>
              <a:defRPr b="1" sz="3200">
                <a:solidFill>
                  <a:srgbClr val="C2D50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1"/>
          <p:cNvSpPr txBox="1"/>
          <p:nvPr>
            <p:ph idx="1" type="body"/>
          </p:nvPr>
        </p:nvSpPr>
        <p:spPr>
          <a:xfrm>
            <a:off x="438150" y="2152650"/>
            <a:ext cx="8429624" cy="393700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000"/>
              <a:buNone/>
              <a:defRPr b="0" sz="2000">
                <a:solidFill>
                  <a:schemeClr val="dk1"/>
                </a:solidFill>
                <a:latin typeface="Arial"/>
                <a:ea typeface="Arial"/>
                <a:cs typeface="Arial"/>
                <a:sym typeface="Arial"/>
              </a:defRPr>
            </a:lvl1pPr>
            <a:lvl2pPr indent="-228600" lvl="1" marL="914400" algn="l">
              <a:lnSpc>
                <a:spcPct val="100000"/>
              </a:lnSpc>
              <a:spcBef>
                <a:spcPts val="500"/>
              </a:spcBef>
              <a:spcAft>
                <a:spcPts val="0"/>
              </a:spcAft>
              <a:buClr>
                <a:srgbClr val="888888"/>
              </a:buClr>
              <a:buSzPts val="2000"/>
              <a:buNone/>
              <a:defRPr sz="2000">
                <a:solidFill>
                  <a:srgbClr val="888888"/>
                </a:solidFill>
              </a:defRPr>
            </a:lvl2pPr>
            <a:lvl3pPr indent="-228600" lvl="2" marL="1371600" algn="l">
              <a:lnSpc>
                <a:spcPct val="10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7" name="Google Shape;27;p21"/>
          <p:cNvSpPr txBox="1"/>
          <p:nvPr>
            <p:ph idx="10" type="dt"/>
          </p:nvPr>
        </p:nvSpPr>
        <p:spPr>
          <a:xfrm>
            <a:off x="453224" y="6458977"/>
            <a:ext cx="120412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1"/>
          <p:cNvSpPr txBox="1"/>
          <p:nvPr>
            <p:ph idx="11" type="ftr"/>
          </p:nvPr>
        </p:nvSpPr>
        <p:spPr>
          <a:xfrm>
            <a:off x="1657351" y="6458977"/>
            <a:ext cx="614362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1"/>
          <p:cNvSpPr txBox="1"/>
          <p:nvPr>
            <p:ph idx="12" type="sldNum"/>
          </p:nvPr>
        </p:nvSpPr>
        <p:spPr>
          <a:xfrm>
            <a:off x="8077200" y="6458977"/>
            <a:ext cx="79057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Title and Bullet Content Slide">
  <p:cSld name="DC Title and Bullet Content Slide">
    <p:spTree>
      <p:nvGrpSpPr>
        <p:cNvPr id="30" name="Shape 30"/>
        <p:cNvGrpSpPr/>
        <p:nvPr/>
      </p:nvGrpSpPr>
      <p:grpSpPr>
        <a:xfrm>
          <a:off x="0" y="0"/>
          <a:ext cx="0" cy="0"/>
          <a:chOff x="0" y="0"/>
          <a:chExt cx="0" cy="0"/>
        </a:xfrm>
      </p:grpSpPr>
      <p:sp>
        <p:nvSpPr>
          <p:cNvPr id="31" name="Google Shape;31;p22"/>
          <p:cNvSpPr txBox="1"/>
          <p:nvPr>
            <p:ph type="title"/>
          </p:nvPr>
        </p:nvSpPr>
        <p:spPr>
          <a:xfrm>
            <a:off x="438149" y="1352551"/>
            <a:ext cx="8429625" cy="695324"/>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C2D500"/>
              </a:buClr>
              <a:buSzPts val="3200"/>
              <a:buFont typeface="Arial"/>
              <a:buNone/>
              <a:defRPr b="1" sz="3200">
                <a:solidFill>
                  <a:srgbClr val="C2D50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2"/>
          <p:cNvSpPr txBox="1"/>
          <p:nvPr>
            <p:ph idx="1" type="body"/>
          </p:nvPr>
        </p:nvSpPr>
        <p:spPr>
          <a:xfrm>
            <a:off x="438150" y="2143125"/>
            <a:ext cx="8429624" cy="3946527"/>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Noto Sans Symbols"/>
              <a:buChar char="▪"/>
              <a:defRPr sz="2000">
                <a:solidFill>
                  <a:schemeClr val="dk1"/>
                </a:solidFill>
                <a:latin typeface="Arial"/>
                <a:ea typeface="Arial"/>
                <a:cs typeface="Arial"/>
                <a:sym typeface="Arial"/>
              </a:defRPr>
            </a:lvl1pPr>
            <a:lvl2pPr indent="-342900" lvl="1" marL="914400" algn="l">
              <a:lnSpc>
                <a:spcPct val="100000"/>
              </a:lnSpc>
              <a:spcBef>
                <a:spcPts val="500"/>
              </a:spcBef>
              <a:spcAft>
                <a:spcPts val="0"/>
              </a:spcAft>
              <a:buClr>
                <a:schemeClr val="dk1"/>
              </a:buClr>
              <a:buSzPts val="1800"/>
              <a:buFont typeface="Noto Sans Symbols"/>
              <a:buChar char="▪"/>
              <a:defRPr sz="1800">
                <a:solidFill>
                  <a:schemeClr val="dk1"/>
                </a:solidFill>
                <a:latin typeface="Arial"/>
                <a:ea typeface="Arial"/>
                <a:cs typeface="Arial"/>
                <a:sym typeface="Arial"/>
              </a:defRPr>
            </a:lvl2pPr>
            <a:lvl3pPr indent="-330200" lvl="2" marL="1371600" algn="l">
              <a:lnSpc>
                <a:spcPct val="100000"/>
              </a:lnSpc>
              <a:spcBef>
                <a:spcPts val="500"/>
              </a:spcBef>
              <a:spcAft>
                <a:spcPts val="0"/>
              </a:spcAft>
              <a:buClr>
                <a:schemeClr val="dk1"/>
              </a:buClr>
              <a:buSzPts val="1600"/>
              <a:buFont typeface="Noto Sans Symbols"/>
              <a:buChar char="▪"/>
              <a:defRPr sz="1600">
                <a:solidFill>
                  <a:schemeClr val="dk1"/>
                </a:solidFill>
                <a:latin typeface="Arial"/>
                <a:ea typeface="Arial"/>
                <a:cs typeface="Arial"/>
                <a:sym typeface="Arial"/>
              </a:defRPr>
            </a:lvl3pPr>
            <a:lvl4pPr indent="-330200" lvl="3" marL="1828800" algn="l">
              <a:lnSpc>
                <a:spcPct val="90000"/>
              </a:lnSpc>
              <a:spcBef>
                <a:spcPts val="500"/>
              </a:spcBef>
              <a:spcAft>
                <a:spcPts val="0"/>
              </a:spcAft>
              <a:buClr>
                <a:srgbClr val="888888"/>
              </a:buClr>
              <a:buSzPts val="1600"/>
              <a:buFont typeface="Noto Sans Symbols"/>
              <a:buChar char="▪"/>
              <a:defRPr sz="1600">
                <a:solidFill>
                  <a:srgbClr val="888888"/>
                </a:solidFill>
              </a:defRPr>
            </a:lvl4pPr>
            <a:lvl5pPr indent="-330200" lvl="4" marL="2286000" algn="l">
              <a:lnSpc>
                <a:spcPct val="90000"/>
              </a:lnSpc>
              <a:spcBef>
                <a:spcPts val="500"/>
              </a:spcBef>
              <a:spcAft>
                <a:spcPts val="0"/>
              </a:spcAft>
              <a:buClr>
                <a:srgbClr val="888888"/>
              </a:buClr>
              <a:buSzPts val="1600"/>
              <a:buFont typeface="Noto Sans Symbols"/>
              <a:buChar char="▪"/>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22"/>
          <p:cNvSpPr txBox="1"/>
          <p:nvPr>
            <p:ph idx="10" type="dt"/>
          </p:nvPr>
        </p:nvSpPr>
        <p:spPr>
          <a:xfrm>
            <a:off x="453224" y="6458977"/>
            <a:ext cx="120412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2"/>
          <p:cNvSpPr txBox="1"/>
          <p:nvPr>
            <p:ph idx="11" type="ftr"/>
          </p:nvPr>
        </p:nvSpPr>
        <p:spPr>
          <a:xfrm>
            <a:off x="1657351" y="6458977"/>
            <a:ext cx="614362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2"/>
          <p:cNvSpPr txBox="1"/>
          <p:nvPr>
            <p:ph idx="12" type="sldNum"/>
          </p:nvPr>
        </p:nvSpPr>
        <p:spPr>
          <a:xfrm>
            <a:off x="8077200" y="6458977"/>
            <a:ext cx="79057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Thank you Slide" showMasterSp="0">
  <p:cSld name="DC Thank you Slide">
    <p:spTree>
      <p:nvGrpSpPr>
        <p:cNvPr id="36" name="Shape 36"/>
        <p:cNvGrpSpPr/>
        <p:nvPr/>
      </p:nvGrpSpPr>
      <p:grpSpPr>
        <a:xfrm>
          <a:off x="0" y="0"/>
          <a:ext cx="0" cy="0"/>
          <a:chOff x="0" y="0"/>
          <a:chExt cx="0" cy="0"/>
        </a:xfrm>
      </p:grpSpPr>
      <p:pic>
        <p:nvPicPr>
          <p:cNvPr id="37" name="Google Shape;37;p23"/>
          <p:cNvPicPr preferRelativeResize="0"/>
          <p:nvPr/>
        </p:nvPicPr>
        <p:blipFill rotWithShape="1">
          <a:blip r:embed="rId2">
            <a:alphaModFix/>
          </a:blip>
          <a:srcRect b="0" l="0" r="0" t="0"/>
          <a:stretch/>
        </p:blipFill>
        <p:spPr>
          <a:xfrm>
            <a:off x="134470" y="0"/>
            <a:ext cx="9009530" cy="6858000"/>
          </a:xfrm>
          <a:prstGeom prst="rect">
            <a:avLst/>
          </a:prstGeom>
          <a:noFill/>
          <a:ln>
            <a:noFill/>
          </a:ln>
        </p:spPr>
      </p:pic>
      <p:sp>
        <p:nvSpPr>
          <p:cNvPr id="38" name="Google Shape;38;p23"/>
          <p:cNvSpPr txBox="1"/>
          <p:nvPr>
            <p:ph idx="1" type="body"/>
          </p:nvPr>
        </p:nvSpPr>
        <p:spPr>
          <a:xfrm>
            <a:off x="485774" y="2314576"/>
            <a:ext cx="3124201" cy="233362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228600" lvl="1" marL="914400" algn="l">
              <a:lnSpc>
                <a:spcPct val="100000"/>
              </a:lnSpc>
              <a:spcBef>
                <a:spcPts val="500"/>
              </a:spcBef>
              <a:spcAft>
                <a:spcPts val="0"/>
              </a:spcAft>
              <a:buClr>
                <a:schemeClr val="dk1"/>
              </a:buClr>
              <a:buSzPts val="1800"/>
              <a:buNone/>
              <a:defRPr sz="1800"/>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Wlcome Slide - Clean" showMasterSp="0">
  <p:cSld name="DC Wlcome Slide - Clean">
    <p:spTree>
      <p:nvGrpSpPr>
        <p:cNvPr id="39" name="Shape 39"/>
        <p:cNvGrpSpPr/>
        <p:nvPr/>
      </p:nvGrpSpPr>
      <p:grpSpPr>
        <a:xfrm>
          <a:off x="0" y="0"/>
          <a:ext cx="0" cy="0"/>
          <a:chOff x="0" y="0"/>
          <a:chExt cx="0" cy="0"/>
        </a:xfrm>
      </p:grpSpPr>
      <p:pic>
        <p:nvPicPr>
          <p:cNvPr id="40" name="Google Shape;40;p24"/>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41" name="Google Shape;41;p24"/>
          <p:cNvSpPr txBox="1"/>
          <p:nvPr>
            <p:ph idx="1" type="body"/>
          </p:nvPr>
        </p:nvSpPr>
        <p:spPr>
          <a:xfrm>
            <a:off x="400050" y="2308226"/>
            <a:ext cx="3124199" cy="88582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3200"/>
              <a:buNone/>
              <a:defRPr b="1" sz="3200"/>
            </a:lvl1pPr>
            <a:lvl2pPr indent="-228600" lvl="1" marL="914400" algn="l">
              <a:lnSpc>
                <a:spcPct val="100000"/>
              </a:lnSpc>
              <a:spcBef>
                <a:spcPts val="500"/>
              </a:spcBef>
              <a:spcAft>
                <a:spcPts val="0"/>
              </a:spcAft>
              <a:buClr>
                <a:schemeClr val="dk1"/>
              </a:buClr>
              <a:buSzPts val="1800"/>
              <a:buNone/>
              <a:defRPr/>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4"/>
          <p:cNvSpPr txBox="1"/>
          <p:nvPr>
            <p:ph idx="2" type="body"/>
          </p:nvPr>
        </p:nvSpPr>
        <p:spPr>
          <a:xfrm>
            <a:off x="400049" y="3333751"/>
            <a:ext cx="3124201" cy="13144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228600" lvl="1" marL="914400" algn="l">
              <a:lnSpc>
                <a:spcPct val="100000"/>
              </a:lnSpc>
              <a:spcBef>
                <a:spcPts val="500"/>
              </a:spcBef>
              <a:spcAft>
                <a:spcPts val="0"/>
              </a:spcAft>
              <a:buClr>
                <a:schemeClr val="dk1"/>
              </a:buClr>
              <a:buSzPts val="2000"/>
              <a:buNone/>
              <a:defRPr sz="2000"/>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4"/>
          <p:cNvSpPr txBox="1"/>
          <p:nvPr>
            <p:ph idx="3" type="body"/>
          </p:nvPr>
        </p:nvSpPr>
        <p:spPr>
          <a:xfrm>
            <a:off x="4114800" y="4819650"/>
            <a:ext cx="3038475" cy="361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2000"/>
              <a:buNone/>
              <a:defRPr sz="2000">
                <a:solidFill>
                  <a:schemeClr val="lt1"/>
                </a:solidFill>
              </a:defRPr>
            </a:lvl1pPr>
            <a:lvl2pPr indent="-228600" lvl="1" marL="914400" algn="l">
              <a:lnSpc>
                <a:spcPct val="100000"/>
              </a:lnSpc>
              <a:spcBef>
                <a:spcPts val="500"/>
              </a:spcBef>
              <a:spcAft>
                <a:spcPts val="0"/>
              </a:spcAft>
              <a:buClr>
                <a:schemeClr val="lt1"/>
              </a:buClr>
              <a:buSzPts val="2000"/>
              <a:buNone/>
              <a:defRPr>
                <a:solidFill>
                  <a:schemeClr val="lt1"/>
                </a:solidFill>
              </a:defRPr>
            </a:lvl2pPr>
            <a:lvl3pPr indent="-228600" lvl="2" marL="1371600" algn="l">
              <a:lnSpc>
                <a:spcPct val="100000"/>
              </a:lnSpc>
              <a:spcBef>
                <a:spcPts val="500"/>
              </a:spcBef>
              <a:spcAft>
                <a:spcPts val="0"/>
              </a:spcAft>
              <a:buClr>
                <a:schemeClr val="lt1"/>
              </a:buClr>
              <a:buSzPts val="1800"/>
              <a:buNone/>
              <a:defRPr>
                <a:solidFill>
                  <a:schemeClr val="lt1"/>
                </a:solidFill>
              </a:defRPr>
            </a:lvl3pPr>
            <a:lvl4pPr indent="-228600" lvl="3" marL="1828800" algn="l">
              <a:lnSpc>
                <a:spcPct val="90000"/>
              </a:lnSpc>
              <a:spcBef>
                <a:spcPts val="500"/>
              </a:spcBef>
              <a:spcAft>
                <a:spcPts val="0"/>
              </a:spcAft>
              <a:buClr>
                <a:schemeClr val="lt1"/>
              </a:buClr>
              <a:buSzPts val="1800"/>
              <a:buNone/>
              <a:defRPr>
                <a:solidFill>
                  <a:schemeClr val="lt1"/>
                </a:solidFill>
              </a:defRPr>
            </a:lvl4pPr>
            <a:lvl5pPr indent="-228600" lvl="4" marL="2286000" algn="l">
              <a:lnSpc>
                <a:spcPct val="90000"/>
              </a:lnSpc>
              <a:spcBef>
                <a:spcPts val="500"/>
              </a:spcBef>
              <a:spcAft>
                <a:spcPts val="0"/>
              </a:spcAft>
              <a:buClr>
                <a:schemeClr val="lt1"/>
              </a:buClr>
              <a:buSzPts val="1800"/>
              <a:buNone/>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4"/>
          <p:cNvSpPr txBox="1"/>
          <p:nvPr>
            <p:ph idx="4" type="body"/>
          </p:nvPr>
        </p:nvSpPr>
        <p:spPr>
          <a:xfrm>
            <a:off x="4124325" y="5219700"/>
            <a:ext cx="3038475" cy="3619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lt1"/>
              </a:buClr>
              <a:buSzPts val="1600"/>
              <a:buNone/>
              <a:defRPr b="0" sz="1600">
                <a:solidFill>
                  <a:schemeClr val="lt1"/>
                </a:solidFill>
              </a:defRPr>
            </a:lvl1pPr>
            <a:lvl2pPr indent="-228600" lvl="1" marL="914400" algn="l">
              <a:lnSpc>
                <a:spcPct val="100000"/>
              </a:lnSpc>
              <a:spcBef>
                <a:spcPts val="500"/>
              </a:spcBef>
              <a:spcAft>
                <a:spcPts val="0"/>
              </a:spcAft>
              <a:buClr>
                <a:schemeClr val="lt1"/>
              </a:buClr>
              <a:buSzPts val="2000"/>
              <a:buNone/>
              <a:defRPr>
                <a:solidFill>
                  <a:schemeClr val="lt1"/>
                </a:solidFill>
              </a:defRPr>
            </a:lvl2pPr>
            <a:lvl3pPr indent="-228600" lvl="2" marL="1371600" algn="l">
              <a:lnSpc>
                <a:spcPct val="100000"/>
              </a:lnSpc>
              <a:spcBef>
                <a:spcPts val="500"/>
              </a:spcBef>
              <a:spcAft>
                <a:spcPts val="0"/>
              </a:spcAft>
              <a:buClr>
                <a:schemeClr val="lt1"/>
              </a:buClr>
              <a:buSzPts val="1800"/>
              <a:buNone/>
              <a:defRPr>
                <a:solidFill>
                  <a:schemeClr val="lt1"/>
                </a:solidFill>
              </a:defRPr>
            </a:lvl3pPr>
            <a:lvl4pPr indent="-228600" lvl="3" marL="1828800" algn="l">
              <a:lnSpc>
                <a:spcPct val="90000"/>
              </a:lnSpc>
              <a:spcBef>
                <a:spcPts val="500"/>
              </a:spcBef>
              <a:spcAft>
                <a:spcPts val="0"/>
              </a:spcAft>
              <a:buClr>
                <a:schemeClr val="lt1"/>
              </a:buClr>
              <a:buSzPts val="1800"/>
              <a:buNone/>
              <a:defRPr>
                <a:solidFill>
                  <a:schemeClr val="lt1"/>
                </a:solidFill>
              </a:defRPr>
            </a:lvl4pPr>
            <a:lvl5pPr indent="-228600" lvl="4" marL="2286000" algn="l">
              <a:lnSpc>
                <a:spcPct val="90000"/>
              </a:lnSpc>
              <a:spcBef>
                <a:spcPts val="500"/>
              </a:spcBef>
              <a:spcAft>
                <a:spcPts val="0"/>
              </a:spcAft>
              <a:buClr>
                <a:schemeClr val="lt1"/>
              </a:buClr>
              <a:buSzPts val="1800"/>
              <a:buNone/>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Title, Subtitle and Content Slide">
  <p:cSld name="DC Title, Subtitle and Content Slide">
    <p:spTree>
      <p:nvGrpSpPr>
        <p:cNvPr id="45" name="Shape 45"/>
        <p:cNvGrpSpPr/>
        <p:nvPr/>
      </p:nvGrpSpPr>
      <p:grpSpPr>
        <a:xfrm>
          <a:off x="0" y="0"/>
          <a:ext cx="0" cy="0"/>
          <a:chOff x="0" y="0"/>
          <a:chExt cx="0" cy="0"/>
        </a:xfrm>
      </p:grpSpPr>
      <p:sp>
        <p:nvSpPr>
          <p:cNvPr id="46" name="Google Shape;46;p25"/>
          <p:cNvSpPr txBox="1"/>
          <p:nvPr>
            <p:ph type="title"/>
          </p:nvPr>
        </p:nvSpPr>
        <p:spPr>
          <a:xfrm>
            <a:off x="438149" y="1352551"/>
            <a:ext cx="8429624" cy="695324"/>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C2D500"/>
              </a:buClr>
              <a:buSzPts val="3200"/>
              <a:buFont typeface="Arial"/>
              <a:buNone/>
              <a:defRPr b="1" sz="3200">
                <a:solidFill>
                  <a:srgbClr val="C2D50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5"/>
          <p:cNvSpPr txBox="1"/>
          <p:nvPr>
            <p:ph idx="1" type="body"/>
          </p:nvPr>
        </p:nvSpPr>
        <p:spPr>
          <a:xfrm>
            <a:off x="438150" y="2990850"/>
            <a:ext cx="8429624" cy="309880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000"/>
              <a:buNone/>
              <a:defRPr b="0" sz="2000">
                <a:solidFill>
                  <a:schemeClr val="dk1"/>
                </a:solidFill>
                <a:latin typeface="Arial"/>
                <a:ea typeface="Arial"/>
                <a:cs typeface="Arial"/>
                <a:sym typeface="Arial"/>
              </a:defRPr>
            </a:lvl1pPr>
            <a:lvl2pPr indent="-228600" lvl="1" marL="914400" algn="l">
              <a:lnSpc>
                <a:spcPct val="100000"/>
              </a:lnSpc>
              <a:spcBef>
                <a:spcPts val="500"/>
              </a:spcBef>
              <a:spcAft>
                <a:spcPts val="0"/>
              </a:spcAft>
              <a:buClr>
                <a:srgbClr val="888888"/>
              </a:buClr>
              <a:buSzPts val="2000"/>
              <a:buNone/>
              <a:defRPr sz="2000">
                <a:solidFill>
                  <a:srgbClr val="888888"/>
                </a:solidFill>
              </a:defRPr>
            </a:lvl2pPr>
            <a:lvl3pPr indent="-228600" lvl="2" marL="1371600" algn="l">
              <a:lnSpc>
                <a:spcPct val="10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8" name="Google Shape;48;p25"/>
          <p:cNvSpPr txBox="1"/>
          <p:nvPr>
            <p:ph idx="10" type="dt"/>
          </p:nvPr>
        </p:nvSpPr>
        <p:spPr>
          <a:xfrm>
            <a:off x="453224" y="6458977"/>
            <a:ext cx="120412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5"/>
          <p:cNvSpPr txBox="1"/>
          <p:nvPr>
            <p:ph idx="11" type="ftr"/>
          </p:nvPr>
        </p:nvSpPr>
        <p:spPr>
          <a:xfrm>
            <a:off x="1657351" y="6458977"/>
            <a:ext cx="614362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5"/>
          <p:cNvSpPr txBox="1"/>
          <p:nvPr>
            <p:ph idx="12" type="sldNum"/>
          </p:nvPr>
        </p:nvSpPr>
        <p:spPr>
          <a:xfrm>
            <a:off x="8077200" y="6458977"/>
            <a:ext cx="79057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25"/>
          <p:cNvSpPr txBox="1"/>
          <p:nvPr>
            <p:ph idx="2" type="body"/>
          </p:nvPr>
        </p:nvSpPr>
        <p:spPr>
          <a:xfrm>
            <a:off x="438149" y="2143125"/>
            <a:ext cx="8429624" cy="7810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b="1" sz="2400">
                <a:solidFill>
                  <a:schemeClr val="dk1"/>
                </a:solidFill>
                <a:latin typeface="Arial"/>
                <a:ea typeface="Arial"/>
                <a:cs typeface="Arial"/>
                <a:sym typeface="Arial"/>
              </a:defRPr>
            </a:lvl1pPr>
            <a:lvl2pPr indent="-228600" lvl="1" marL="914400" algn="l">
              <a:lnSpc>
                <a:spcPct val="100000"/>
              </a:lnSpc>
              <a:spcBef>
                <a:spcPts val="500"/>
              </a:spcBef>
              <a:spcAft>
                <a:spcPts val="0"/>
              </a:spcAft>
              <a:buClr>
                <a:srgbClr val="888888"/>
              </a:buClr>
              <a:buSzPts val="2000"/>
              <a:buNone/>
              <a:defRPr sz="2000">
                <a:solidFill>
                  <a:srgbClr val="888888"/>
                </a:solidFill>
              </a:defRPr>
            </a:lvl2pPr>
            <a:lvl3pPr indent="-228600" lvl="2" marL="1371600" algn="l">
              <a:lnSpc>
                <a:spcPct val="10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Picture/Graph Slide" showMasterSp="0">
  <p:cSld name="DC Picture/Graph Slide">
    <p:spTree>
      <p:nvGrpSpPr>
        <p:cNvPr id="52" name="Shape 52"/>
        <p:cNvGrpSpPr/>
        <p:nvPr/>
      </p:nvGrpSpPr>
      <p:grpSpPr>
        <a:xfrm>
          <a:off x="0" y="0"/>
          <a:ext cx="0" cy="0"/>
          <a:chOff x="0" y="0"/>
          <a:chExt cx="0" cy="0"/>
        </a:xfrm>
      </p:grpSpPr>
      <p:pic>
        <p:nvPicPr>
          <p:cNvPr id="53" name="Google Shape;53;p26"/>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54" name="Google Shape;54;p26"/>
          <p:cNvSpPr txBox="1"/>
          <p:nvPr>
            <p:ph idx="1" type="body"/>
          </p:nvPr>
        </p:nvSpPr>
        <p:spPr>
          <a:xfrm>
            <a:off x="476250" y="352426"/>
            <a:ext cx="8258175" cy="533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C2D500"/>
              </a:buClr>
              <a:buSzPts val="3200"/>
              <a:buNone/>
              <a:defRPr b="1" sz="3200">
                <a:solidFill>
                  <a:srgbClr val="C2D500"/>
                </a:solidFill>
              </a:defRPr>
            </a:lvl1pPr>
            <a:lvl2pPr indent="-228600" lvl="1" marL="914400" algn="l">
              <a:lnSpc>
                <a:spcPct val="100000"/>
              </a:lnSpc>
              <a:spcBef>
                <a:spcPts val="500"/>
              </a:spcBef>
              <a:spcAft>
                <a:spcPts val="0"/>
              </a:spcAft>
              <a:buClr>
                <a:schemeClr val="dk1"/>
              </a:buClr>
              <a:buSzPts val="1800"/>
              <a:buNone/>
              <a:defRPr/>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6"/>
          <p:cNvSpPr/>
          <p:nvPr>
            <p:ph idx="2" type="pic"/>
          </p:nvPr>
        </p:nvSpPr>
        <p:spPr>
          <a:xfrm>
            <a:off x="466725" y="1104900"/>
            <a:ext cx="8001000" cy="45339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Two Pictures/Graphs Slide" showMasterSp="0">
  <p:cSld name="DC Two Pictures/Graphs Slide">
    <p:spTree>
      <p:nvGrpSpPr>
        <p:cNvPr id="56" name="Shape 56"/>
        <p:cNvGrpSpPr/>
        <p:nvPr/>
      </p:nvGrpSpPr>
      <p:grpSpPr>
        <a:xfrm>
          <a:off x="0" y="0"/>
          <a:ext cx="0" cy="0"/>
          <a:chOff x="0" y="0"/>
          <a:chExt cx="0" cy="0"/>
        </a:xfrm>
      </p:grpSpPr>
      <p:pic>
        <p:nvPicPr>
          <p:cNvPr id="57" name="Google Shape;57;p27"/>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58" name="Google Shape;58;p27"/>
          <p:cNvSpPr txBox="1"/>
          <p:nvPr>
            <p:ph idx="1" type="body"/>
          </p:nvPr>
        </p:nvSpPr>
        <p:spPr>
          <a:xfrm>
            <a:off x="476250" y="352426"/>
            <a:ext cx="8258175" cy="533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C2D500"/>
              </a:buClr>
              <a:buSzPts val="3200"/>
              <a:buNone/>
              <a:defRPr b="1" sz="3200">
                <a:solidFill>
                  <a:srgbClr val="C2D500"/>
                </a:solidFill>
              </a:defRPr>
            </a:lvl1pPr>
            <a:lvl2pPr indent="-228600" lvl="1" marL="914400" algn="l">
              <a:lnSpc>
                <a:spcPct val="100000"/>
              </a:lnSpc>
              <a:spcBef>
                <a:spcPts val="500"/>
              </a:spcBef>
              <a:spcAft>
                <a:spcPts val="0"/>
              </a:spcAft>
              <a:buClr>
                <a:schemeClr val="dk1"/>
              </a:buClr>
              <a:buSzPts val="1800"/>
              <a:buNone/>
              <a:defRPr/>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27"/>
          <p:cNvSpPr/>
          <p:nvPr>
            <p:ph idx="2" type="pic"/>
          </p:nvPr>
        </p:nvSpPr>
        <p:spPr>
          <a:xfrm>
            <a:off x="466724" y="1104900"/>
            <a:ext cx="3895725" cy="4533900"/>
          </a:xfrm>
          <a:prstGeom prst="rect">
            <a:avLst/>
          </a:prstGeom>
          <a:noFill/>
          <a:ln>
            <a:noFill/>
          </a:ln>
        </p:spPr>
      </p:sp>
      <p:sp>
        <p:nvSpPr>
          <p:cNvPr id="60" name="Google Shape;60;p27"/>
          <p:cNvSpPr/>
          <p:nvPr>
            <p:ph idx="3" type="pic"/>
          </p:nvPr>
        </p:nvSpPr>
        <p:spPr>
          <a:xfrm>
            <a:off x="4572000" y="1104900"/>
            <a:ext cx="3895725" cy="45339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Copy + Picture Slide">
  <p:cSld name="DC Copy + Picture Slide">
    <p:spTree>
      <p:nvGrpSpPr>
        <p:cNvPr id="61" name="Shape 61"/>
        <p:cNvGrpSpPr/>
        <p:nvPr/>
      </p:nvGrpSpPr>
      <p:grpSpPr>
        <a:xfrm>
          <a:off x="0" y="0"/>
          <a:ext cx="0" cy="0"/>
          <a:chOff x="0" y="0"/>
          <a:chExt cx="0" cy="0"/>
        </a:xfrm>
      </p:grpSpPr>
      <p:sp>
        <p:nvSpPr>
          <p:cNvPr id="62" name="Google Shape;62;p28"/>
          <p:cNvSpPr txBox="1"/>
          <p:nvPr>
            <p:ph idx="10" type="dt"/>
          </p:nvPr>
        </p:nvSpPr>
        <p:spPr>
          <a:xfrm>
            <a:off x="453224" y="6458977"/>
            <a:ext cx="120412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1657351" y="6458977"/>
            <a:ext cx="614362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8077200" y="6458977"/>
            <a:ext cx="79057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5" name="Google Shape;65;p28"/>
          <p:cNvSpPr/>
          <p:nvPr>
            <p:ph idx="2" type="pic"/>
          </p:nvPr>
        </p:nvSpPr>
        <p:spPr>
          <a:xfrm>
            <a:off x="4972049" y="1809750"/>
            <a:ext cx="3895725" cy="4533900"/>
          </a:xfrm>
          <a:prstGeom prst="rect">
            <a:avLst/>
          </a:prstGeom>
          <a:noFill/>
          <a:ln>
            <a:noFill/>
          </a:ln>
        </p:spPr>
      </p:sp>
      <p:sp>
        <p:nvSpPr>
          <p:cNvPr id="66" name="Google Shape;66;p28"/>
          <p:cNvSpPr txBox="1"/>
          <p:nvPr>
            <p:ph idx="1" type="body"/>
          </p:nvPr>
        </p:nvSpPr>
        <p:spPr>
          <a:xfrm>
            <a:off x="452438" y="1161020"/>
            <a:ext cx="8415336" cy="533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rgbClr val="C2D500"/>
              </a:buClr>
              <a:buSzPts val="3200"/>
              <a:buNone/>
              <a:defRPr b="1" sz="3200">
                <a:solidFill>
                  <a:srgbClr val="C2D500"/>
                </a:solidFill>
              </a:defRPr>
            </a:lvl1pPr>
            <a:lvl2pPr indent="-228600" lvl="1" marL="914400" algn="l">
              <a:lnSpc>
                <a:spcPct val="100000"/>
              </a:lnSpc>
              <a:spcBef>
                <a:spcPts val="500"/>
              </a:spcBef>
              <a:spcAft>
                <a:spcPts val="0"/>
              </a:spcAft>
              <a:buClr>
                <a:schemeClr val="dk1"/>
              </a:buClr>
              <a:buSzPts val="1800"/>
              <a:buNone/>
              <a:defRPr/>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28"/>
          <p:cNvSpPr txBox="1"/>
          <p:nvPr>
            <p:ph idx="3" type="body"/>
          </p:nvPr>
        </p:nvSpPr>
        <p:spPr>
          <a:xfrm>
            <a:off x="452439" y="1809747"/>
            <a:ext cx="4367212" cy="45339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Noto Sans Symbols"/>
              <a:buChar char="▪"/>
              <a:defRPr sz="2000">
                <a:solidFill>
                  <a:schemeClr val="dk1"/>
                </a:solidFill>
                <a:latin typeface="Arial"/>
                <a:ea typeface="Arial"/>
                <a:cs typeface="Arial"/>
                <a:sym typeface="Arial"/>
              </a:defRPr>
            </a:lvl1pPr>
            <a:lvl2pPr indent="-342900" lvl="1" marL="914400" algn="l">
              <a:lnSpc>
                <a:spcPct val="100000"/>
              </a:lnSpc>
              <a:spcBef>
                <a:spcPts val="500"/>
              </a:spcBef>
              <a:spcAft>
                <a:spcPts val="0"/>
              </a:spcAft>
              <a:buClr>
                <a:schemeClr val="dk1"/>
              </a:buClr>
              <a:buSzPts val="1800"/>
              <a:buFont typeface="Noto Sans Symbols"/>
              <a:buChar char="▪"/>
              <a:defRPr sz="1800">
                <a:solidFill>
                  <a:schemeClr val="dk1"/>
                </a:solidFill>
                <a:latin typeface="Arial"/>
                <a:ea typeface="Arial"/>
                <a:cs typeface="Arial"/>
                <a:sym typeface="Arial"/>
              </a:defRPr>
            </a:lvl2pPr>
            <a:lvl3pPr indent="-330200" lvl="2" marL="1371600" algn="l">
              <a:lnSpc>
                <a:spcPct val="100000"/>
              </a:lnSpc>
              <a:spcBef>
                <a:spcPts val="500"/>
              </a:spcBef>
              <a:spcAft>
                <a:spcPts val="0"/>
              </a:spcAft>
              <a:buClr>
                <a:schemeClr val="dk1"/>
              </a:buClr>
              <a:buSzPts val="1600"/>
              <a:buFont typeface="Noto Sans Symbols"/>
              <a:buChar char="▪"/>
              <a:defRPr sz="1600">
                <a:solidFill>
                  <a:schemeClr val="dk1"/>
                </a:solidFill>
                <a:latin typeface="Arial"/>
                <a:ea typeface="Arial"/>
                <a:cs typeface="Arial"/>
                <a:sym typeface="Arial"/>
              </a:defRPr>
            </a:lvl3pPr>
            <a:lvl4pPr indent="-330200" lvl="3" marL="1828800" algn="l">
              <a:lnSpc>
                <a:spcPct val="90000"/>
              </a:lnSpc>
              <a:spcBef>
                <a:spcPts val="500"/>
              </a:spcBef>
              <a:spcAft>
                <a:spcPts val="0"/>
              </a:spcAft>
              <a:buClr>
                <a:srgbClr val="888888"/>
              </a:buClr>
              <a:buSzPts val="1600"/>
              <a:buFont typeface="Noto Sans Symbols"/>
              <a:buChar char="▪"/>
              <a:defRPr sz="1600">
                <a:solidFill>
                  <a:srgbClr val="888888"/>
                </a:solidFill>
              </a:defRPr>
            </a:lvl4pPr>
            <a:lvl5pPr indent="-330200" lvl="4" marL="2286000" algn="l">
              <a:lnSpc>
                <a:spcPct val="90000"/>
              </a:lnSpc>
              <a:spcBef>
                <a:spcPts val="500"/>
              </a:spcBef>
              <a:spcAft>
                <a:spcPts val="0"/>
              </a:spcAft>
              <a:buClr>
                <a:srgbClr val="888888"/>
              </a:buClr>
              <a:buSzPts val="1600"/>
              <a:buFont typeface="Noto Sans Symbols"/>
              <a:buChar char="▪"/>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Questions Slide" showMasterSp="0">
  <p:cSld name="DC Questions Slide">
    <p:spTree>
      <p:nvGrpSpPr>
        <p:cNvPr id="68" name="Shape 68"/>
        <p:cNvGrpSpPr/>
        <p:nvPr/>
      </p:nvGrpSpPr>
      <p:grpSpPr>
        <a:xfrm>
          <a:off x="0" y="0"/>
          <a:ext cx="0" cy="0"/>
          <a:chOff x="0" y="0"/>
          <a:chExt cx="0" cy="0"/>
        </a:xfrm>
      </p:grpSpPr>
      <p:pic>
        <p:nvPicPr>
          <p:cNvPr id="69" name="Google Shape;69;p29"/>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70" name="Google Shape;70;p29"/>
          <p:cNvSpPr txBox="1"/>
          <p:nvPr>
            <p:ph idx="1" type="body"/>
          </p:nvPr>
        </p:nvSpPr>
        <p:spPr>
          <a:xfrm>
            <a:off x="485774" y="2314576"/>
            <a:ext cx="3124201" cy="233362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228600" lvl="1" marL="914400" algn="l">
              <a:lnSpc>
                <a:spcPct val="100000"/>
              </a:lnSpc>
              <a:spcBef>
                <a:spcPts val="500"/>
              </a:spcBef>
              <a:spcAft>
                <a:spcPts val="0"/>
              </a:spcAft>
              <a:buClr>
                <a:schemeClr val="dk1"/>
              </a:buClr>
              <a:buSzPts val="1800"/>
              <a:buNone/>
              <a:defRPr sz="1800"/>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C Sub Section Slider">
  <p:cSld name="DC Sub Section Slider">
    <p:spTree>
      <p:nvGrpSpPr>
        <p:cNvPr id="71" name="Shape 71"/>
        <p:cNvGrpSpPr/>
        <p:nvPr/>
      </p:nvGrpSpPr>
      <p:grpSpPr>
        <a:xfrm>
          <a:off x="0" y="0"/>
          <a:ext cx="0" cy="0"/>
          <a:chOff x="0" y="0"/>
          <a:chExt cx="0" cy="0"/>
        </a:xfrm>
      </p:grpSpPr>
      <p:pic>
        <p:nvPicPr>
          <p:cNvPr id="72" name="Google Shape;72;p30"/>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73" name="Google Shape;73;p30"/>
          <p:cNvSpPr txBox="1"/>
          <p:nvPr>
            <p:ph idx="1" type="body"/>
          </p:nvPr>
        </p:nvSpPr>
        <p:spPr>
          <a:xfrm>
            <a:off x="400050" y="2308226"/>
            <a:ext cx="5192486" cy="88582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3200"/>
              <a:buNone/>
              <a:defRPr b="1" sz="3200"/>
            </a:lvl1pPr>
            <a:lvl2pPr indent="-228600" lvl="1" marL="914400" algn="l">
              <a:lnSpc>
                <a:spcPct val="100000"/>
              </a:lnSpc>
              <a:spcBef>
                <a:spcPts val="500"/>
              </a:spcBef>
              <a:spcAft>
                <a:spcPts val="0"/>
              </a:spcAft>
              <a:buClr>
                <a:schemeClr val="dk1"/>
              </a:buClr>
              <a:buSzPts val="1800"/>
              <a:buNone/>
              <a:defRPr/>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30"/>
          <p:cNvSpPr txBox="1"/>
          <p:nvPr>
            <p:ph idx="2" type="body"/>
          </p:nvPr>
        </p:nvSpPr>
        <p:spPr>
          <a:xfrm>
            <a:off x="400049" y="3333751"/>
            <a:ext cx="4784272" cy="13144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800"/>
              <a:buNone/>
              <a:defRPr/>
            </a:lvl1pPr>
            <a:lvl2pPr indent="-228600" lvl="1" marL="914400" algn="l">
              <a:lnSpc>
                <a:spcPct val="100000"/>
              </a:lnSpc>
              <a:spcBef>
                <a:spcPts val="500"/>
              </a:spcBef>
              <a:spcAft>
                <a:spcPts val="0"/>
              </a:spcAft>
              <a:buClr>
                <a:schemeClr val="dk1"/>
              </a:buClr>
              <a:buSzPts val="2000"/>
              <a:buNone/>
              <a:defRPr sz="2000"/>
            </a:lvl2pPr>
            <a:lvl3pPr indent="-228600" lvl="2" marL="1371600" algn="l">
              <a:lnSpc>
                <a:spcPct val="10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8"/>
          <p:cNvPicPr preferRelativeResize="0"/>
          <p:nvPr/>
        </p:nvPicPr>
        <p:blipFill rotWithShape="1">
          <a:blip r:embed="rId1">
            <a:alphaModFix/>
          </a:blip>
          <a:srcRect b="0" l="0" r="0" t="0"/>
          <a:stretch/>
        </p:blipFill>
        <p:spPr>
          <a:xfrm>
            <a:off x="0" y="0"/>
            <a:ext cx="9144000" cy="6858000"/>
          </a:xfrm>
          <a:prstGeom prst="rect">
            <a:avLst/>
          </a:prstGeom>
          <a:noFill/>
          <a:ln>
            <a:noFill/>
          </a:ln>
        </p:spPr>
      </p:pic>
      <p:sp>
        <p:nvSpPr>
          <p:cNvPr id="11" name="Google Shape;11;p18"/>
          <p:cNvSpPr txBox="1"/>
          <p:nvPr>
            <p:ph idx="10" type="dt"/>
          </p:nvPr>
        </p:nvSpPr>
        <p:spPr>
          <a:xfrm>
            <a:off x="453224" y="6458977"/>
            <a:ext cx="1204126"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8"/>
          <p:cNvSpPr txBox="1"/>
          <p:nvPr>
            <p:ph idx="11" type="ftr"/>
          </p:nvPr>
        </p:nvSpPr>
        <p:spPr>
          <a:xfrm>
            <a:off x="1657351" y="6458977"/>
            <a:ext cx="614362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2" type="sldNum"/>
          </p:nvPr>
        </p:nvSpPr>
        <p:spPr>
          <a:xfrm>
            <a:off x="8077200" y="6458977"/>
            <a:ext cx="790574"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8"/>
          <p:cNvSpPr txBox="1"/>
          <p:nvPr>
            <p:ph type="title"/>
          </p:nvPr>
        </p:nvSpPr>
        <p:spPr>
          <a:xfrm>
            <a:off x="628650" y="1181099"/>
            <a:ext cx="7886700" cy="71913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8"/>
          <p:cNvSpPr txBox="1"/>
          <p:nvPr>
            <p:ph idx="1" type="body"/>
          </p:nvPr>
        </p:nvSpPr>
        <p:spPr>
          <a:xfrm>
            <a:off x="628650" y="2581275"/>
            <a:ext cx="7886700" cy="359568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ab5a4a3928_0_23"/>
          <p:cNvSpPr txBox="1"/>
          <p:nvPr>
            <p:ph idx="1" type="body"/>
          </p:nvPr>
        </p:nvSpPr>
        <p:spPr>
          <a:xfrm>
            <a:off x="400050" y="2308225"/>
            <a:ext cx="2962500" cy="1513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800"/>
              <a:buNone/>
            </a:pPr>
            <a:r>
              <a:rPr lang="en-US" sz="2300"/>
              <a:t>End-to-End Data Engineering Solution for HR Analytics</a:t>
            </a:r>
            <a:endParaRPr sz="2300"/>
          </a:p>
        </p:txBody>
      </p:sp>
      <p:sp>
        <p:nvSpPr>
          <p:cNvPr id="81" name="Google Shape;81;g3ab5a4a3928_0_23"/>
          <p:cNvSpPr txBox="1"/>
          <p:nvPr>
            <p:ph idx="2" type="body"/>
          </p:nvPr>
        </p:nvSpPr>
        <p:spPr>
          <a:xfrm>
            <a:off x="400050" y="4083249"/>
            <a:ext cx="2962500" cy="10059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400"/>
              <a:buNone/>
            </a:pPr>
            <a:r>
              <a:rPr lang="en-US" sz="1600">
                <a:highlight>
                  <a:srgbClr val="FFFFFF"/>
                </a:highlight>
                <a:latin typeface="Calibri"/>
                <a:ea typeface="Calibri"/>
                <a:cs typeface="Calibri"/>
                <a:sym typeface="Calibri"/>
              </a:rPr>
              <a:t>​​A Databricks-based historical HR data pipeline with interactive web-based analytics dashboard​</a:t>
            </a:r>
            <a:endParaRPr/>
          </a:p>
        </p:txBody>
      </p:sp>
      <p:sp>
        <p:nvSpPr>
          <p:cNvPr id="82" name="Google Shape;82;g3ab5a4a3928_0_23"/>
          <p:cNvSpPr txBox="1"/>
          <p:nvPr>
            <p:ph idx="2" type="body"/>
          </p:nvPr>
        </p:nvSpPr>
        <p:spPr>
          <a:xfrm>
            <a:off x="400050" y="5242600"/>
            <a:ext cx="2465700" cy="544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400"/>
              <a:buNone/>
            </a:pPr>
            <a:r>
              <a:rPr lang="en-US" sz="1400"/>
              <a:t>CSIS 4495 - 50</a:t>
            </a:r>
            <a:endParaRPr sz="1400"/>
          </a:p>
          <a:p>
            <a:pPr indent="0" lvl="0" marL="0" rtl="0" algn="l">
              <a:lnSpc>
                <a:spcPct val="100000"/>
              </a:lnSpc>
              <a:spcBef>
                <a:spcPts val="0"/>
              </a:spcBef>
              <a:spcAft>
                <a:spcPts val="0"/>
              </a:spcAft>
              <a:buClr>
                <a:schemeClr val="dk1"/>
              </a:buClr>
              <a:buSzPts val="1400"/>
              <a:buNone/>
            </a:pPr>
            <a:r>
              <a:rPr lang="en-US" sz="1400"/>
              <a:t>Applied Research Project</a:t>
            </a:r>
            <a:endParaRPr/>
          </a:p>
        </p:txBody>
      </p:sp>
      <p:sp>
        <p:nvSpPr>
          <p:cNvPr id="83" name="Google Shape;83;g3ab5a4a3928_0_23"/>
          <p:cNvSpPr txBox="1"/>
          <p:nvPr/>
        </p:nvSpPr>
        <p:spPr>
          <a:xfrm>
            <a:off x="4118225" y="4780825"/>
            <a:ext cx="4816200" cy="16926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SzPts val="275"/>
              <a:buNone/>
            </a:pPr>
            <a:r>
              <a:rPr lang="en-US">
                <a:solidFill>
                  <a:srgbClr val="FFFFFF"/>
                </a:solidFill>
              </a:rPr>
              <a:t>Group Members: </a:t>
            </a:r>
            <a:endParaRPr>
              <a:solidFill>
                <a:srgbClr val="FFFFFF"/>
              </a:solidFill>
            </a:endParaRPr>
          </a:p>
          <a:p>
            <a:pPr indent="0" lvl="0" marL="0" rtl="0" algn="l">
              <a:lnSpc>
                <a:spcPct val="80000"/>
              </a:lnSpc>
              <a:spcBef>
                <a:spcPts val="0"/>
              </a:spcBef>
              <a:spcAft>
                <a:spcPts val="0"/>
              </a:spcAft>
              <a:buSzPts val="275"/>
              <a:buNone/>
            </a:pPr>
            <a:r>
              <a:t/>
            </a:r>
            <a:endParaRPr>
              <a:solidFill>
                <a:srgbClr val="FFFFFF"/>
              </a:solidFill>
            </a:endParaRPr>
          </a:p>
          <a:p>
            <a:pPr indent="0" lvl="0" marL="0" rtl="0" algn="l">
              <a:lnSpc>
                <a:spcPct val="80000"/>
              </a:lnSpc>
              <a:spcBef>
                <a:spcPts val="1000"/>
              </a:spcBef>
              <a:spcAft>
                <a:spcPts val="0"/>
              </a:spcAft>
              <a:buClr>
                <a:schemeClr val="dk1"/>
              </a:buClr>
              <a:buSzPts val="275"/>
              <a:buFont typeface="Arial"/>
              <a:buNone/>
            </a:pPr>
            <a:r>
              <a:rPr lang="en-US">
                <a:solidFill>
                  <a:srgbClr val="FFFFFF"/>
                </a:solidFill>
              </a:rPr>
              <a:t>Bruno do Nascimento Beserra 	| 300392300 </a:t>
            </a:r>
            <a:endParaRPr>
              <a:solidFill>
                <a:srgbClr val="FFFFFF"/>
              </a:solidFill>
            </a:endParaRPr>
          </a:p>
          <a:p>
            <a:pPr indent="0" lvl="0" marL="0" rtl="0" algn="l">
              <a:lnSpc>
                <a:spcPct val="80000"/>
              </a:lnSpc>
              <a:spcBef>
                <a:spcPts val="1000"/>
              </a:spcBef>
              <a:spcAft>
                <a:spcPts val="0"/>
              </a:spcAft>
              <a:buSzPts val="275"/>
              <a:buNone/>
            </a:pPr>
            <a:r>
              <a:rPr lang="en-US">
                <a:solidFill>
                  <a:srgbClr val="FFFFFF"/>
                </a:solidFill>
              </a:rPr>
              <a:t>Jay Clark Bermudez 			| 300380540</a:t>
            </a:r>
            <a:endParaRPr>
              <a:solidFill>
                <a:srgbClr val="FFFFFF"/>
              </a:solidFill>
            </a:endParaRPr>
          </a:p>
          <a:p>
            <a:pPr indent="0" lvl="0" marL="0" rtl="0" algn="l">
              <a:lnSpc>
                <a:spcPct val="80000"/>
              </a:lnSpc>
              <a:spcBef>
                <a:spcPts val="1000"/>
              </a:spcBef>
              <a:spcAft>
                <a:spcPts val="0"/>
              </a:spcAft>
              <a:buSzPts val="275"/>
              <a:buNone/>
            </a:pPr>
            <a:r>
              <a:rPr lang="en-US">
                <a:solidFill>
                  <a:srgbClr val="FFFFFF"/>
                </a:solidFill>
              </a:rPr>
              <a:t>Matheus Filipe Figueiredo 		| 300389657</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ab5a4a3928_0_117"/>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What was the problem?</a:t>
            </a:r>
            <a:endParaRPr/>
          </a:p>
        </p:txBody>
      </p:sp>
      <p:sp>
        <p:nvSpPr>
          <p:cNvPr id="95" name="Google Shape;95;g3ab5a4a3928_0_117"/>
          <p:cNvSpPr txBox="1"/>
          <p:nvPr>
            <p:ph idx="1" type="body"/>
          </p:nvPr>
        </p:nvSpPr>
        <p:spPr>
          <a:xfrm>
            <a:off x="438150" y="2143125"/>
            <a:ext cx="8429700" cy="3946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None/>
            </a:pPr>
            <a:r>
              <a:rPr b="1" lang="en-US" sz="1800"/>
              <a:t>Problem:</a:t>
            </a:r>
            <a:r>
              <a:rPr lang="en-US" sz="1800"/>
              <a:t> Loss of Historical HR Data</a:t>
            </a:r>
            <a:endParaRPr sz="1800"/>
          </a:p>
          <a:p>
            <a:pPr indent="0" lvl="0" marL="0" rtl="0" algn="l">
              <a:lnSpc>
                <a:spcPct val="100000"/>
              </a:lnSpc>
              <a:spcBef>
                <a:spcPts val="1000"/>
              </a:spcBef>
              <a:spcAft>
                <a:spcPts val="0"/>
              </a:spcAft>
              <a:buNone/>
            </a:pPr>
            <a:r>
              <a:t/>
            </a:r>
            <a:endParaRPr sz="1800"/>
          </a:p>
          <a:p>
            <a:pPr indent="-342900" lvl="0" marL="457200" rtl="0" algn="l">
              <a:lnSpc>
                <a:spcPct val="100000"/>
              </a:lnSpc>
              <a:spcBef>
                <a:spcPts val="1000"/>
              </a:spcBef>
              <a:spcAft>
                <a:spcPts val="0"/>
              </a:spcAft>
              <a:buSzPts val="1800"/>
              <a:buChar char="●"/>
            </a:pPr>
            <a:r>
              <a:rPr lang="en-US" sz="1800"/>
              <a:t>HR SaaS (e.g., Dayforce) focus on daily operations, not history</a:t>
            </a:r>
            <a:endParaRPr sz="1800"/>
          </a:p>
          <a:p>
            <a:pPr indent="0" lvl="0" marL="457200" rtl="0" algn="l">
              <a:lnSpc>
                <a:spcPct val="100000"/>
              </a:lnSpc>
              <a:spcBef>
                <a:spcPts val="0"/>
              </a:spcBef>
              <a:spcAft>
                <a:spcPts val="0"/>
              </a:spcAft>
              <a:buNone/>
            </a:pPr>
            <a:r>
              <a:t/>
            </a:r>
            <a:endParaRPr sz="1800"/>
          </a:p>
          <a:p>
            <a:pPr indent="-342900" lvl="0" marL="457200" rtl="0" algn="l">
              <a:lnSpc>
                <a:spcPct val="100000"/>
              </a:lnSpc>
              <a:spcBef>
                <a:spcPts val="1000"/>
              </a:spcBef>
              <a:spcAft>
                <a:spcPts val="0"/>
              </a:spcAft>
              <a:buSzPts val="1800"/>
              <a:buChar char="●"/>
            </a:pPr>
            <a:r>
              <a:rPr lang="en-US" sz="1800"/>
              <a:t>Records overwritten/removed when employees change or leave</a:t>
            </a:r>
            <a:endParaRPr sz="1800"/>
          </a:p>
          <a:p>
            <a:pPr indent="0" lvl="0" marL="457200" rtl="0" algn="l">
              <a:lnSpc>
                <a:spcPct val="100000"/>
              </a:lnSpc>
              <a:spcBef>
                <a:spcPts val="0"/>
              </a:spcBef>
              <a:spcAft>
                <a:spcPts val="0"/>
              </a:spcAft>
              <a:buNone/>
            </a:pPr>
            <a:r>
              <a:t/>
            </a:r>
            <a:endParaRPr sz="1800"/>
          </a:p>
          <a:p>
            <a:pPr indent="-342900" lvl="0" marL="457200" rtl="0" algn="l">
              <a:lnSpc>
                <a:spcPct val="100000"/>
              </a:lnSpc>
              <a:spcBef>
                <a:spcPts val="1000"/>
              </a:spcBef>
              <a:spcAft>
                <a:spcPts val="0"/>
              </a:spcAft>
              <a:buSzPts val="1800"/>
              <a:buChar char="●"/>
            </a:pPr>
            <a:r>
              <a:rPr lang="en-US" sz="1800"/>
              <a:t>Manual CSV exports - not a structured historical store</a:t>
            </a:r>
            <a:endParaRPr sz="1800"/>
          </a:p>
          <a:p>
            <a:pPr indent="0" lvl="0" marL="457200" rtl="0" algn="l">
              <a:lnSpc>
                <a:spcPct val="100000"/>
              </a:lnSpc>
              <a:spcBef>
                <a:spcPts val="0"/>
              </a:spcBef>
              <a:spcAft>
                <a:spcPts val="0"/>
              </a:spcAft>
              <a:buNone/>
            </a:pPr>
            <a:r>
              <a:t/>
            </a:r>
            <a:endParaRPr sz="1800"/>
          </a:p>
          <a:p>
            <a:pPr indent="-342900" lvl="0" marL="457200" rtl="0" algn="l">
              <a:lnSpc>
                <a:spcPct val="100000"/>
              </a:lnSpc>
              <a:spcBef>
                <a:spcPts val="1000"/>
              </a:spcBef>
              <a:spcAft>
                <a:spcPts val="0"/>
              </a:spcAft>
              <a:buSzPts val="1800"/>
              <a:buChar char="●"/>
            </a:pPr>
            <a:r>
              <a:rPr lang="en-US" sz="1800"/>
              <a:t>Hard to answer long-term workforce questions (turnover, promotion, salary trends)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ab5a4a3928_3_5"/>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Project Goal &amp; Objectives</a:t>
            </a:r>
            <a:endParaRPr/>
          </a:p>
        </p:txBody>
      </p:sp>
      <p:sp>
        <p:nvSpPr>
          <p:cNvPr id="102" name="Google Shape;102;g3ab5a4a3928_3_5"/>
          <p:cNvSpPr txBox="1"/>
          <p:nvPr>
            <p:ph idx="1" type="body"/>
          </p:nvPr>
        </p:nvSpPr>
        <p:spPr>
          <a:xfrm>
            <a:off x="438150" y="2045525"/>
            <a:ext cx="8429700" cy="45393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US" sz="1800"/>
              <a:t>Goal:</a:t>
            </a:r>
            <a:endParaRPr b="1" sz="1800"/>
          </a:p>
          <a:p>
            <a:pPr indent="-342900" lvl="0" marL="342900" rtl="0" algn="l">
              <a:spcBef>
                <a:spcPts val="1000"/>
              </a:spcBef>
              <a:spcAft>
                <a:spcPts val="0"/>
              </a:spcAft>
              <a:buSzPts val="1800"/>
              <a:buChar char="●"/>
            </a:pPr>
            <a:r>
              <a:rPr lang="en-US" sz="1800"/>
              <a:t>Design and implement an end-to-end data engineering solution that preserves and enables analysis of historical HR data for workforce planning and decision-making.</a:t>
            </a:r>
            <a:endParaRPr sz="1800"/>
          </a:p>
          <a:p>
            <a:pPr indent="0" lvl="0" marL="0" rtl="0" algn="l">
              <a:spcBef>
                <a:spcPts val="1000"/>
              </a:spcBef>
              <a:spcAft>
                <a:spcPts val="0"/>
              </a:spcAft>
              <a:buNone/>
            </a:pPr>
            <a:r>
              <a:t/>
            </a:r>
            <a:endParaRPr sz="1800"/>
          </a:p>
          <a:p>
            <a:pPr indent="0" lvl="0" marL="0" rtl="0" algn="l">
              <a:lnSpc>
                <a:spcPct val="100000"/>
              </a:lnSpc>
              <a:spcBef>
                <a:spcPts val="1000"/>
              </a:spcBef>
              <a:spcAft>
                <a:spcPts val="0"/>
              </a:spcAft>
              <a:buNone/>
            </a:pPr>
            <a:r>
              <a:rPr b="1" lang="en-US" sz="1800"/>
              <a:t>Objectives:</a:t>
            </a:r>
            <a:endParaRPr b="1" sz="1800"/>
          </a:p>
          <a:p>
            <a:pPr indent="-342900" lvl="0" marL="457200" rtl="0" algn="l">
              <a:lnSpc>
                <a:spcPct val="115000"/>
              </a:lnSpc>
              <a:spcBef>
                <a:spcPts val="1000"/>
              </a:spcBef>
              <a:spcAft>
                <a:spcPts val="0"/>
              </a:spcAft>
              <a:buSzPts val="1800"/>
              <a:buChar char="●"/>
            </a:pPr>
            <a:r>
              <a:rPr lang="en-US" sz="1800"/>
              <a:t>Simulate 7 years of monthly HR snapshots from a Kaggle dataset</a:t>
            </a:r>
            <a:endParaRPr sz="1800"/>
          </a:p>
          <a:p>
            <a:pPr indent="-342900" lvl="0" marL="457200" rtl="0" algn="l">
              <a:lnSpc>
                <a:spcPct val="115000"/>
              </a:lnSpc>
              <a:spcBef>
                <a:spcPts val="0"/>
              </a:spcBef>
              <a:spcAft>
                <a:spcPts val="0"/>
              </a:spcAft>
              <a:buSzPts val="1800"/>
              <a:buChar char="●"/>
            </a:pPr>
            <a:r>
              <a:rPr lang="en-US" sz="1800"/>
              <a:t>Build a Databricks-based pipeline with Bronze, Silver, and Gold layers</a:t>
            </a:r>
            <a:endParaRPr sz="1800"/>
          </a:p>
          <a:p>
            <a:pPr indent="-342900" lvl="0" marL="457200" rtl="0" algn="l">
              <a:lnSpc>
                <a:spcPct val="115000"/>
              </a:lnSpc>
              <a:spcBef>
                <a:spcPts val="0"/>
              </a:spcBef>
              <a:spcAft>
                <a:spcPts val="0"/>
              </a:spcAft>
              <a:buSzPts val="1800"/>
              <a:buChar char="●"/>
            </a:pPr>
            <a:r>
              <a:rPr lang="en-US" sz="1800"/>
              <a:t>Apply Slowly Changing Dimensions Type 2 + Kimball dimensional model</a:t>
            </a:r>
            <a:endParaRPr sz="1800"/>
          </a:p>
          <a:p>
            <a:pPr indent="-342900" lvl="0" marL="457200" rtl="0" algn="l">
              <a:lnSpc>
                <a:spcPct val="115000"/>
              </a:lnSpc>
              <a:spcBef>
                <a:spcPts val="0"/>
              </a:spcBef>
              <a:spcAft>
                <a:spcPts val="0"/>
              </a:spcAft>
              <a:buSzPts val="1800"/>
              <a:buChar char="●"/>
            </a:pPr>
            <a:r>
              <a:rPr lang="en-US" sz="1800"/>
              <a:t>Develop a Dash web application on top of the Gold layer</a:t>
            </a:r>
            <a:endParaRPr sz="1800"/>
          </a:p>
          <a:p>
            <a:pPr indent="-342900" lvl="0" marL="457200" rtl="0" algn="l">
              <a:lnSpc>
                <a:spcPct val="115000"/>
              </a:lnSpc>
              <a:spcBef>
                <a:spcPts val="0"/>
              </a:spcBef>
              <a:spcAft>
                <a:spcPts val="0"/>
              </a:spcAft>
              <a:buSzPts val="1800"/>
              <a:buChar char="●"/>
            </a:pPr>
            <a:r>
              <a:rPr lang="en-US" sz="1800"/>
              <a:t>Show reusability via Power BI and CSV-based analysis</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ab5a4a3928_0_80"/>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Overall System Architecture</a:t>
            </a:r>
            <a:endParaRPr/>
          </a:p>
        </p:txBody>
      </p:sp>
      <p:pic>
        <p:nvPicPr>
          <p:cNvPr id="109" name="Google Shape;109;g3ab5a4a3928_0_80"/>
          <p:cNvPicPr preferRelativeResize="0"/>
          <p:nvPr/>
        </p:nvPicPr>
        <p:blipFill>
          <a:blip r:embed="rId3">
            <a:alphaModFix/>
          </a:blip>
          <a:stretch>
            <a:fillRect/>
          </a:stretch>
        </p:blipFill>
        <p:spPr>
          <a:xfrm>
            <a:off x="1375350" y="3429000"/>
            <a:ext cx="6393300" cy="903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abca90f916_0_14"/>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Databricks Pipeline</a:t>
            </a:r>
            <a:endParaRPr/>
          </a:p>
        </p:txBody>
      </p:sp>
      <p:pic>
        <p:nvPicPr>
          <p:cNvPr id="116" name="Google Shape;116;g3abca90f916_0_14"/>
          <p:cNvPicPr preferRelativeResize="0"/>
          <p:nvPr/>
        </p:nvPicPr>
        <p:blipFill>
          <a:blip r:embed="rId3">
            <a:alphaModFix/>
          </a:blip>
          <a:stretch>
            <a:fillRect/>
          </a:stretch>
        </p:blipFill>
        <p:spPr>
          <a:xfrm>
            <a:off x="1157225" y="1974475"/>
            <a:ext cx="6991549" cy="46735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abca90f916_0_23"/>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Web Application</a:t>
            </a:r>
            <a:endParaRPr/>
          </a:p>
        </p:txBody>
      </p:sp>
      <p:pic>
        <p:nvPicPr>
          <p:cNvPr id="123" name="Google Shape;123;g3abca90f916_0_23"/>
          <p:cNvPicPr preferRelativeResize="0"/>
          <p:nvPr/>
        </p:nvPicPr>
        <p:blipFill>
          <a:blip r:embed="rId3">
            <a:alphaModFix/>
          </a:blip>
          <a:stretch>
            <a:fillRect/>
          </a:stretch>
        </p:blipFill>
        <p:spPr>
          <a:xfrm>
            <a:off x="1157225" y="1978381"/>
            <a:ext cx="6991549" cy="46657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ab5a4a3928_1_28"/>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Technologies Used</a:t>
            </a:r>
            <a:endParaRPr/>
          </a:p>
        </p:txBody>
      </p:sp>
      <p:sp>
        <p:nvSpPr>
          <p:cNvPr id="130" name="Google Shape;130;g3ab5a4a3928_1_28"/>
          <p:cNvSpPr txBox="1"/>
          <p:nvPr>
            <p:ph idx="1" type="body"/>
          </p:nvPr>
        </p:nvSpPr>
        <p:spPr>
          <a:xfrm>
            <a:off x="438150" y="2143125"/>
            <a:ext cx="8429700" cy="39465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1000"/>
              </a:spcBef>
              <a:spcAft>
                <a:spcPts val="0"/>
              </a:spcAft>
              <a:buSzPts val="1800"/>
              <a:buChar char="●"/>
            </a:pPr>
            <a:r>
              <a:rPr lang="en-US" sz="1800"/>
              <a:t>Data Engineering</a:t>
            </a:r>
            <a:endParaRPr sz="1800"/>
          </a:p>
          <a:p>
            <a:pPr indent="-342900" lvl="1" marL="628650" rtl="0" algn="l">
              <a:lnSpc>
                <a:spcPct val="100000"/>
              </a:lnSpc>
              <a:spcBef>
                <a:spcPts val="1000"/>
              </a:spcBef>
              <a:spcAft>
                <a:spcPts val="0"/>
              </a:spcAft>
              <a:buSzPts val="1800"/>
              <a:buChar char="○"/>
            </a:pPr>
            <a:r>
              <a:rPr lang="en-US" sz="1800"/>
              <a:t>Databricks</a:t>
            </a:r>
            <a:endParaRPr sz="1800"/>
          </a:p>
          <a:p>
            <a:pPr indent="-342900" lvl="1" marL="628650" rtl="0" algn="l">
              <a:spcBef>
                <a:spcPts val="1000"/>
              </a:spcBef>
              <a:spcAft>
                <a:spcPts val="0"/>
              </a:spcAft>
              <a:buSzPts val="1800"/>
              <a:buChar char="○"/>
            </a:pPr>
            <a:r>
              <a:rPr lang="en-US"/>
              <a:t>Medallion Architecture</a:t>
            </a:r>
            <a:endParaRPr/>
          </a:p>
          <a:p>
            <a:pPr indent="-342900" lvl="1" marL="628650" rtl="0" algn="l">
              <a:lnSpc>
                <a:spcPct val="100000"/>
              </a:lnSpc>
              <a:spcBef>
                <a:spcPts val="1000"/>
              </a:spcBef>
              <a:spcAft>
                <a:spcPts val="0"/>
              </a:spcAft>
              <a:buSzPts val="1800"/>
              <a:buChar char="○"/>
            </a:pPr>
            <a:r>
              <a:rPr lang="en-US" sz="1800"/>
              <a:t>Slowly Changing Dimension</a:t>
            </a:r>
            <a:endParaRPr sz="1800"/>
          </a:p>
          <a:p>
            <a:pPr indent="-342900" lvl="1" marL="628650" rtl="0" algn="l">
              <a:spcBef>
                <a:spcPts val="1000"/>
              </a:spcBef>
              <a:spcAft>
                <a:spcPts val="0"/>
              </a:spcAft>
              <a:buSzPts val="1800"/>
              <a:buChar char="○"/>
            </a:pPr>
            <a:r>
              <a:rPr lang="en-US"/>
              <a:t>Kimball Architecture</a:t>
            </a:r>
            <a:r>
              <a:rPr lang="en-US" sz="1800"/>
              <a:t> </a:t>
            </a:r>
            <a:endParaRPr sz="1800"/>
          </a:p>
          <a:p>
            <a:pPr indent="-342900" lvl="0" marL="342900" rtl="0" algn="l">
              <a:lnSpc>
                <a:spcPct val="100000"/>
              </a:lnSpc>
              <a:spcBef>
                <a:spcPts val="1000"/>
              </a:spcBef>
              <a:spcAft>
                <a:spcPts val="0"/>
              </a:spcAft>
              <a:buSzPts val="2000"/>
              <a:buChar char="●"/>
            </a:pPr>
            <a:r>
              <a:rPr lang="en-US"/>
              <a:t>Visualizations</a:t>
            </a:r>
            <a:endParaRPr/>
          </a:p>
          <a:p>
            <a:pPr indent="-342900" lvl="1" marL="628650" rtl="0" algn="l">
              <a:lnSpc>
                <a:spcPct val="100000"/>
              </a:lnSpc>
              <a:spcBef>
                <a:spcPts val="1000"/>
              </a:spcBef>
              <a:spcAft>
                <a:spcPts val="0"/>
              </a:spcAft>
              <a:buSzPts val="1800"/>
              <a:buChar char="○"/>
            </a:pPr>
            <a:r>
              <a:rPr lang="en-US"/>
              <a:t>Microsoft PowerBI</a:t>
            </a:r>
            <a:endParaRPr/>
          </a:p>
          <a:p>
            <a:pPr indent="-342900" lvl="1" marL="628650" rtl="0" algn="l">
              <a:lnSpc>
                <a:spcPct val="100000"/>
              </a:lnSpc>
              <a:spcBef>
                <a:spcPts val="1000"/>
              </a:spcBef>
              <a:spcAft>
                <a:spcPts val="0"/>
              </a:spcAft>
              <a:buSzPts val="1800"/>
              <a:buChar char="○"/>
            </a:pPr>
            <a:r>
              <a:rPr lang="en-US"/>
              <a:t>Salesforce Tableau</a:t>
            </a:r>
            <a:endParaRPr/>
          </a:p>
          <a:p>
            <a:pPr indent="-342900" lvl="1" marL="628650" rtl="0" algn="l">
              <a:spcBef>
                <a:spcPts val="1000"/>
              </a:spcBef>
              <a:spcAft>
                <a:spcPts val="0"/>
              </a:spcAft>
              <a:buSzPts val="1800"/>
              <a:buChar char="○"/>
            </a:pPr>
            <a:r>
              <a:rPr lang="en-US"/>
              <a:t>Dash Web Application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ab5a4a3928_1_34"/>
          <p:cNvSpPr txBox="1"/>
          <p:nvPr>
            <p:ph type="title"/>
          </p:nvPr>
        </p:nvSpPr>
        <p:spPr>
          <a:xfrm>
            <a:off x="438150" y="1352550"/>
            <a:ext cx="8429700" cy="579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Technologies Impact</a:t>
            </a:r>
            <a:endParaRPr/>
          </a:p>
        </p:txBody>
      </p:sp>
      <p:sp>
        <p:nvSpPr>
          <p:cNvPr id="137" name="Google Shape;137;g3ab5a4a3928_1_34"/>
          <p:cNvSpPr txBox="1"/>
          <p:nvPr>
            <p:ph idx="1" type="body"/>
          </p:nvPr>
        </p:nvSpPr>
        <p:spPr>
          <a:xfrm>
            <a:off x="438150" y="2143125"/>
            <a:ext cx="8429700" cy="3946500"/>
          </a:xfrm>
          <a:prstGeom prst="rect">
            <a:avLst/>
          </a:prstGeom>
          <a:noFill/>
          <a:ln>
            <a:noFill/>
          </a:ln>
        </p:spPr>
        <p:txBody>
          <a:bodyPr anchorCtr="0" anchor="t" bIns="45700" lIns="91425" spcFirstLastPara="1" rIns="91425" wrap="square" tIns="45700">
            <a:normAutofit/>
          </a:bodyPr>
          <a:lstStyle/>
          <a:p>
            <a:pPr indent="-361950" lvl="0" marL="457200" rtl="0" algn="l">
              <a:lnSpc>
                <a:spcPct val="100000"/>
              </a:lnSpc>
              <a:spcBef>
                <a:spcPts val="1000"/>
              </a:spcBef>
              <a:spcAft>
                <a:spcPts val="0"/>
              </a:spcAft>
              <a:buSzPts val="2100"/>
              <a:buChar char="●"/>
            </a:pPr>
            <a:r>
              <a:rPr lang="en-US" sz="2100"/>
              <a:t>Medallion Architecture</a:t>
            </a:r>
            <a:endParaRPr sz="2100"/>
          </a:p>
          <a:p>
            <a:pPr indent="-361950" lvl="1" marL="914400" rtl="0" algn="l">
              <a:lnSpc>
                <a:spcPct val="100000"/>
              </a:lnSpc>
              <a:spcBef>
                <a:spcPts val="1000"/>
              </a:spcBef>
              <a:spcAft>
                <a:spcPts val="0"/>
              </a:spcAft>
              <a:buSzPts val="2100"/>
              <a:buChar char="○"/>
            </a:pPr>
            <a:r>
              <a:rPr lang="en-US" sz="2100"/>
              <a:t>Splits the data into three quality layers (Bronze, Silver, Gold) </a:t>
            </a:r>
            <a:endParaRPr sz="2100"/>
          </a:p>
          <a:p>
            <a:pPr indent="-361950" lvl="1" marL="914400" rtl="0" algn="l">
              <a:lnSpc>
                <a:spcPct val="100000"/>
              </a:lnSpc>
              <a:spcBef>
                <a:spcPts val="1000"/>
              </a:spcBef>
              <a:spcAft>
                <a:spcPts val="0"/>
              </a:spcAft>
              <a:buSzPts val="2100"/>
              <a:buChar char="○"/>
            </a:pPr>
            <a:r>
              <a:rPr lang="en-US" sz="2100"/>
              <a:t>Enables incremental ETL</a:t>
            </a:r>
            <a:endParaRPr sz="2100"/>
          </a:p>
          <a:p>
            <a:pPr indent="-361950" lvl="1" marL="914400" rtl="0" algn="l">
              <a:lnSpc>
                <a:spcPct val="100000"/>
              </a:lnSpc>
              <a:spcBef>
                <a:spcPts val="1000"/>
              </a:spcBef>
              <a:spcAft>
                <a:spcPts val="0"/>
              </a:spcAft>
              <a:buSzPts val="2100"/>
              <a:buChar char="○"/>
            </a:pPr>
            <a:r>
              <a:rPr lang="en-US" sz="2100"/>
              <a:t>Can recreate your tables from raw data at any time</a:t>
            </a:r>
            <a:endParaRPr sz="2100"/>
          </a:p>
          <a:p>
            <a:pPr indent="-361950" lvl="1" marL="914400" rtl="0" algn="l">
              <a:lnSpc>
                <a:spcPct val="100000"/>
              </a:lnSpc>
              <a:spcBef>
                <a:spcPts val="1000"/>
              </a:spcBef>
              <a:spcAft>
                <a:spcPts val="0"/>
              </a:spcAft>
              <a:buSzPts val="2100"/>
              <a:buChar char="○"/>
            </a:pPr>
            <a:r>
              <a:rPr lang="en-US" sz="2100"/>
              <a:t>ACID transactions, time travel</a:t>
            </a:r>
            <a:endParaRPr sz="2100"/>
          </a:p>
          <a:p>
            <a:pPr indent="0" lvl="0" marL="0" rtl="0" algn="l">
              <a:lnSpc>
                <a:spcPct val="100000"/>
              </a:lnSpc>
              <a:spcBef>
                <a:spcPts val="1000"/>
              </a:spcBef>
              <a:spcAft>
                <a:spcPts val="0"/>
              </a:spcAft>
              <a:buNone/>
            </a:pPr>
            <a:r>
              <a:t/>
            </a:r>
            <a:endParaRPr sz="1800"/>
          </a:p>
        </p:txBody>
      </p:sp>
      <p:pic>
        <p:nvPicPr>
          <p:cNvPr id="138" name="Google Shape;138;g3ab5a4a3928_1_34"/>
          <p:cNvPicPr preferRelativeResize="0"/>
          <p:nvPr/>
        </p:nvPicPr>
        <p:blipFill>
          <a:blip r:embed="rId3">
            <a:alphaModFix/>
          </a:blip>
          <a:stretch>
            <a:fillRect/>
          </a:stretch>
        </p:blipFill>
        <p:spPr>
          <a:xfrm>
            <a:off x="1968075" y="4506125"/>
            <a:ext cx="5369851" cy="1711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aba727a19d_0_0"/>
          <p:cNvSpPr txBox="1"/>
          <p:nvPr>
            <p:ph type="title"/>
          </p:nvPr>
        </p:nvSpPr>
        <p:spPr>
          <a:xfrm>
            <a:off x="438150" y="1352550"/>
            <a:ext cx="8429700" cy="579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Technologies Impact</a:t>
            </a:r>
            <a:endParaRPr/>
          </a:p>
        </p:txBody>
      </p:sp>
      <p:sp>
        <p:nvSpPr>
          <p:cNvPr id="145" name="Google Shape;145;g3aba727a19d_0_0"/>
          <p:cNvSpPr txBox="1"/>
          <p:nvPr>
            <p:ph idx="1" type="body"/>
          </p:nvPr>
        </p:nvSpPr>
        <p:spPr>
          <a:xfrm>
            <a:off x="438150" y="1995112"/>
            <a:ext cx="8429700" cy="2396100"/>
          </a:xfrm>
          <a:prstGeom prst="rect">
            <a:avLst/>
          </a:prstGeom>
          <a:noFill/>
          <a:ln>
            <a:noFill/>
          </a:ln>
        </p:spPr>
        <p:txBody>
          <a:bodyPr anchorCtr="0" anchor="t" bIns="45700" lIns="91425" spcFirstLastPara="1" rIns="91425" wrap="square" tIns="45700">
            <a:normAutofit/>
          </a:bodyPr>
          <a:lstStyle/>
          <a:p>
            <a:pPr indent="-361950" lvl="0" marL="457200" rtl="0" algn="l">
              <a:lnSpc>
                <a:spcPct val="115000"/>
              </a:lnSpc>
              <a:spcBef>
                <a:spcPts val="1000"/>
              </a:spcBef>
              <a:spcAft>
                <a:spcPts val="0"/>
              </a:spcAft>
              <a:buSzPts val="2100"/>
              <a:buChar char="●"/>
            </a:pPr>
            <a:r>
              <a:rPr lang="en-US" sz="2100"/>
              <a:t>Slowly Changing Dimension</a:t>
            </a:r>
            <a:endParaRPr sz="2100"/>
          </a:p>
          <a:p>
            <a:pPr indent="-361950" lvl="1" marL="914400" rtl="0" algn="l">
              <a:lnSpc>
                <a:spcPct val="115000"/>
              </a:lnSpc>
              <a:spcBef>
                <a:spcPts val="0"/>
              </a:spcBef>
              <a:spcAft>
                <a:spcPts val="0"/>
              </a:spcAft>
              <a:buSzPts val="2100"/>
              <a:buChar char="○"/>
            </a:pPr>
            <a:r>
              <a:rPr lang="en-US" sz="2100"/>
              <a:t>There are 3 most common types of SCD </a:t>
            </a:r>
            <a:r>
              <a:rPr lang="en-US" sz="2100"/>
              <a:t>Techniques</a:t>
            </a:r>
            <a:endParaRPr sz="2100"/>
          </a:p>
          <a:p>
            <a:pPr indent="-361950" lvl="1" marL="914400" rtl="0" algn="l">
              <a:lnSpc>
                <a:spcPct val="115000"/>
              </a:lnSpc>
              <a:spcBef>
                <a:spcPts val="0"/>
              </a:spcBef>
              <a:spcAft>
                <a:spcPts val="0"/>
              </a:spcAft>
              <a:buSzPts val="2100"/>
              <a:buChar char="○"/>
            </a:pPr>
            <a:r>
              <a:rPr lang="en-US" sz="2100"/>
              <a:t>Type 2, which was used for this project, focus on retaining all changing in data that happens in the dataset</a:t>
            </a:r>
            <a:endParaRPr sz="2100"/>
          </a:p>
          <a:p>
            <a:pPr indent="-361950" lvl="1" marL="914400" rtl="0" algn="l">
              <a:lnSpc>
                <a:spcPct val="115000"/>
              </a:lnSpc>
              <a:spcBef>
                <a:spcPts val="0"/>
              </a:spcBef>
              <a:spcAft>
                <a:spcPts val="0"/>
              </a:spcAft>
              <a:buSzPts val="2100"/>
              <a:buChar char="○"/>
            </a:pPr>
            <a:r>
              <a:rPr lang="en-US" sz="2100"/>
              <a:t>It’s useful for support time-based analysis</a:t>
            </a:r>
            <a:endParaRPr sz="2100"/>
          </a:p>
          <a:p>
            <a:pPr indent="-361950" lvl="1" marL="914400" rtl="0" algn="l">
              <a:lnSpc>
                <a:spcPct val="115000"/>
              </a:lnSpc>
              <a:spcBef>
                <a:spcPts val="0"/>
              </a:spcBef>
              <a:spcAft>
                <a:spcPts val="0"/>
              </a:spcAft>
              <a:buSzPts val="2100"/>
              <a:buChar char="○"/>
            </a:pPr>
            <a:r>
              <a:rPr lang="en-US" sz="2100"/>
              <a:t>Saves storage space</a:t>
            </a:r>
            <a:endParaRPr sz="1800"/>
          </a:p>
        </p:txBody>
      </p:sp>
      <p:grpSp>
        <p:nvGrpSpPr>
          <p:cNvPr id="146" name="Google Shape;146;g3aba727a19d_0_0"/>
          <p:cNvGrpSpPr/>
          <p:nvPr/>
        </p:nvGrpSpPr>
        <p:grpSpPr>
          <a:xfrm>
            <a:off x="1144000" y="4391200"/>
            <a:ext cx="2852775" cy="2137476"/>
            <a:chOff x="1078225" y="4522650"/>
            <a:chExt cx="2852775" cy="2137476"/>
          </a:xfrm>
        </p:grpSpPr>
        <p:pic>
          <p:nvPicPr>
            <p:cNvPr id="147" name="Google Shape;147;g3aba727a19d_0_0"/>
            <p:cNvPicPr preferRelativeResize="0"/>
            <p:nvPr/>
          </p:nvPicPr>
          <p:blipFill rotWithShape="1">
            <a:blip r:embed="rId3">
              <a:alphaModFix/>
            </a:blip>
            <a:srcRect b="0" l="0" r="0" t="10793"/>
            <a:stretch/>
          </p:blipFill>
          <p:spPr>
            <a:xfrm>
              <a:off x="1078300" y="4522650"/>
              <a:ext cx="2852700" cy="2137476"/>
            </a:xfrm>
            <a:prstGeom prst="rect">
              <a:avLst/>
            </a:prstGeom>
            <a:noFill/>
            <a:ln>
              <a:noFill/>
            </a:ln>
          </p:spPr>
        </p:pic>
        <p:sp>
          <p:nvSpPr>
            <p:cNvPr id="148" name="Google Shape;148;g3aba727a19d_0_0"/>
            <p:cNvSpPr/>
            <p:nvPr/>
          </p:nvSpPr>
          <p:spPr>
            <a:xfrm>
              <a:off x="1078225" y="6183700"/>
              <a:ext cx="2852700" cy="476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9" name="Google Shape;149;g3aba727a19d_0_0"/>
          <p:cNvSpPr/>
          <p:nvPr/>
        </p:nvSpPr>
        <p:spPr>
          <a:xfrm>
            <a:off x="5213375" y="4933725"/>
            <a:ext cx="2121600" cy="10524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chemeClr val="dk1"/>
                </a:solidFill>
              </a:rPr>
              <a:t>61.3% Size Reduction</a:t>
            </a:r>
            <a:endParaRPr b="1" sz="2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ab5a4a3928_1_88"/>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Technologies Impact</a:t>
            </a:r>
            <a:endParaRPr/>
          </a:p>
        </p:txBody>
      </p:sp>
      <p:sp>
        <p:nvSpPr>
          <p:cNvPr id="156" name="Google Shape;156;g3ab5a4a3928_1_88"/>
          <p:cNvSpPr txBox="1"/>
          <p:nvPr>
            <p:ph idx="1" type="body"/>
          </p:nvPr>
        </p:nvSpPr>
        <p:spPr>
          <a:xfrm>
            <a:off x="438150" y="2143125"/>
            <a:ext cx="8429700" cy="3946500"/>
          </a:xfrm>
          <a:prstGeom prst="rect">
            <a:avLst/>
          </a:prstGeom>
          <a:noFill/>
          <a:ln>
            <a:noFill/>
          </a:ln>
        </p:spPr>
        <p:txBody>
          <a:bodyPr anchorCtr="0" anchor="t" bIns="45700" lIns="91425" spcFirstLastPara="1" rIns="91425" wrap="square" tIns="45700">
            <a:normAutofit lnSpcReduction="20000"/>
          </a:bodyPr>
          <a:lstStyle/>
          <a:p>
            <a:pPr indent="-375674" lvl="0" marL="457200" rtl="0" algn="l">
              <a:lnSpc>
                <a:spcPct val="100000"/>
              </a:lnSpc>
              <a:spcBef>
                <a:spcPts val="1000"/>
              </a:spcBef>
              <a:spcAft>
                <a:spcPts val="0"/>
              </a:spcAft>
              <a:buSzPts val="2316"/>
              <a:buChar char="●"/>
            </a:pPr>
            <a:r>
              <a:rPr lang="en-US" sz="2316"/>
              <a:t>Kimball</a:t>
            </a:r>
            <a:r>
              <a:rPr lang="en-US" sz="2316"/>
              <a:t> Architecture</a:t>
            </a:r>
            <a:endParaRPr sz="2316"/>
          </a:p>
          <a:p>
            <a:pPr indent="-342900" lvl="1" marL="914400" rtl="0" algn="l">
              <a:lnSpc>
                <a:spcPct val="100000"/>
              </a:lnSpc>
              <a:spcBef>
                <a:spcPts val="1000"/>
              </a:spcBef>
              <a:spcAft>
                <a:spcPts val="0"/>
              </a:spcAft>
              <a:buSzPts val="1800"/>
              <a:buChar char="○"/>
            </a:pPr>
            <a:r>
              <a:rPr lang="en-US"/>
              <a:t>Based on Star Schema</a:t>
            </a:r>
            <a:endParaRPr/>
          </a:p>
          <a:p>
            <a:pPr indent="-342900" lvl="1" marL="914400" rtl="0" algn="l">
              <a:lnSpc>
                <a:spcPct val="100000"/>
              </a:lnSpc>
              <a:spcBef>
                <a:spcPts val="1000"/>
              </a:spcBef>
              <a:spcAft>
                <a:spcPts val="0"/>
              </a:spcAft>
              <a:buSzPts val="1800"/>
              <a:buChar char="○"/>
            </a:pPr>
            <a:r>
              <a:rPr lang="en-US"/>
              <a:t>Composed of Dimension and Fact Tables</a:t>
            </a:r>
            <a:endParaRPr/>
          </a:p>
          <a:p>
            <a:pPr indent="-342900" lvl="1" marL="914400" rtl="0" algn="l">
              <a:lnSpc>
                <a:spcPct val="100000"/>
              </a:lnSpc>
              <a:spcBef>
                <a:spcPts val="1000"/>
              </a:spcBef>
              <a:spcAft>
                <a:spcPts val="0"/>
              </a:spcAft>
              <a:buSzPts val="1800"/>
              <a:buChar char="○"/>
            </a:pPr>
            <a:r>
              <a:rPr lang="en-US"/>
              <a:t>Saves space and reduce redundancy in data</a:t>
            </a:r>
            <a:endParaRPr/>
          </a:p>
          <a:p>
            <a:pPr indent="0" lvl="0" marL="0" rtl="0" algn="l">
              <a:lnSpc>
                <a:spcPct val="100000"/>
              </a:lnSpc>
              <a:spcBef>
                <a:spcPts val="1000"/>
              </a:spcBef>
              <a:spcAft>
                <a:spcPts val="0"/>
              </a:spcAft>
              <a:buNone/>
            </a:pPr>
            <a:r>
              <a:t/>
            </a:r>
            <a:endParaRPr sz="1800"/>
          </a:p>
          <a:p>
            <a:pPr indent="0" lvl="0" marL="0" rtl="0" algn="l">
              <a:lnSpc>
                <a:spcPct val="100000"/>
              </a:lnSpc>
              <a:spcBef>
                <a:spcPts val="1000"/>
              </a:spcBef>
              <a:spcAft>
                <a:spcPts val="0"/>
              </a:spcAft>
              <a:buNone/>
            </a:pPr>
            <a:r>
              <a:t/>
            </a:r>
            <a:endParaRPr sz="1800"/>
          </a:p>
          <a:p>
            <a:pPr indent="0" lvl="0" marL="0" rtl="0" algn="l">
              <a:lnSpc>
                <a:spcPct val="100000"/>
              </a:lnSpc>
              <a:spcBef>
                <a:spcPts val="1000"/>
              </a:spcBef>
              <a:spcAft>
                <a:spcPts val="0"/>
              </a:spcAft>
              <a:buNone/>
            </a:pPr>
            <a:r>
              <a:t/>
            </a:r>
            <a:endParaRPr sz="1800"/>
          </a:p>
          <a:p>
            <a:pPr indent="0" lvl="0" marL="0" rtl="0" algn="l">
              <a:lnSpc>
                <a:spcPct val="100000"/>
              </a:lnSpc>
              <a:spcBef>
                <a:spcPts val="1000"/>
              </a:spcBef>
              <a:spcAft>
                <a:spcPts val="0"/>
              </a:spcAft>
              <a:buNone/>
            </a:pPr>
            <a:r>
              <a:t/>
            </a:r>
            <a:endParaRPr sz="1800"/>
          </a:p>
          <a:p>
            <a:pPr indent="0" lvl="0" marL="0" rtl="0" algn="l">
              <a:lnSpc>
                <a:spcPct val="100000"/>
              </a:lnSpc>
              <a:spcBef>
                <a:spcPts val="1000"/>
              </a:spcBef>
              <a:spcAft>
                <a:spcPts val="0"/>
              </a:spcAft>
              <a:buNone/>
            </a:pPr>
            <a:r>
              <a:t/>
            </a:r>
            <a:endParaRPr sz="1800"/>
          </a:p>
          <a:p>
            <a:pPr indent="0" lvl="0" marL="0" rtl="0" algn="l">
              <a:lnSpc>
                <a:spcPct val="100000"/>
              </a:lnSpc>
              <a:spcBef>
                <a:spcPts val="1000"/>
              </a:spcBef>
              <a:spcAft>
                <a:spcPts val="0"/>
              </a:spcAft>
              <a:buNone/>
            </a:pPr>
            <a:r>
              <a:t/>
            </a:r>
            <a:endParaRPr sz="1800"/>
          </a:p>
          <a:p>
            <a:pPr indent="0" lvl="0" marL="0" rtl="0" algn="l">
              <a:lnSpc>
                <a:spcPct val="100000"/>
              </a:lnSpc>
              <a:spcBef>
                <a:spcPts val="1000"/>
              </a:spcBef>
              <a:spcAft>
                <a:spcPts val="0"/>
              </a:spcAft>
              <a:buNone/>
            </a:pPr>
            <a:r>
              <a:t/>
            </a:r>
            <a:endParaRPr sz="1800"/>
          </a:p>
        </p:txBody>
      </p:sp>
      <p:pic>
        <p:nvPicPr>
          <p:cNvPr id="157" name="Google Shape;157;g3ab5a4a3928_1_88"/>
          <p:cNvPicPr preferRelativeResize="0"/>
          <p:nvPr/>
        </p:nvPicPr>
        <p:blipFill>
          <a:blip r:embed="rId3">
            <a:alphaModFix/>
          </a:blip>
          <a:stretch>
            <a:fillRect/>
          </a:stretch>
        </p:blipFill>
        <p:spPr>
          <a:xfrm>
            <a:off x="1857375" y="3800938"/>
            <a:ext cx="5429250" cy="2333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ab5a4a3928_0_50"/>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Dataset </a:t>
            </a:r>
            <a:r>
              <a:rPr b="0" lang="en-US"/>
              <a:t>Creation &amp; Future Simulation</a:t>
            </a:r>
            <a:endParaRPr/>
          </a:p>
        </p:txBody>
      </p:sp>
      <p:pic>
        <p:nvPicPr>
          <p:cNvPr id="164" name="Google Shape;164;g3ab5a4a3928_0_50"/>
          <p:cNvPicPr preferRelativeResize="0"/>
          <p:nvPr/>
        </p:nvPicPr>
        <p:blipFill>
          <a:blip r:embed="rId3">
            <a:alphaModFix/>
          </a:blip>
          <a:stretch>
            <a:fillRect/>
          </a:stretch>
        </p:blipFill>
        <p:spPr>
          <a:xfrm>
            <a:off x="1780925" y="4219650"/>
            <a:ext cx="5744150" cy="2390700"/>
          </a:xfrm>
          <a:prstGeom prst="rect">
            <a:avLst/>
          </a:prstGeom>
          <a:noFill/>
          <a:ln>
            <a:noFill/>
          </a:ln>
        </p:spPr>
      </p:pic>
      <p:sp>
        <p:nvSpPr>
          <p:cNvPr id="165" name="Google Shape;165;g3ab5a4a3928_0_50"/>
          <p:cNvSpPr txBox="1"/>
          <p:nvPr>
            <p:ph idx="1" type="body"/>
          </p:nvPr>
        </p:nvSpPr>
        <p:spPr>
          <a:xfrm>
            <a:off x="520050" y="2376100"/>
            <a:ext cx="8265900" cy="2014800"/>
          </a:xfrm>
          <a:prstGeom prst="rect">
            <a:avLst/>
          </a:prstGeom>
          <a:noFill/>
          <a:ln>
            <a:noFill/>
          </a:ln>
        </p:spPr>
        <p:txBody>
          <a:bodyPr anchorCtr="0" anchor="t" bIns="45700" lIns="91425" spcFirstLastPara="1" rIns="91425" wrap="square" tIns="45700">
            <a:normAutofit/>
          </a:bodyPr>
          <a:lstStyle/>
          <a:p>
            <a:pPr indent="-349250" lvl="0" marL="457200" rtl="0" algn="l">
              <a:lnSpc>
                <a:spcPct val="115000"/>
              </a:lnSpc>
              <a:spcBef>
                <a:spcPts val="1000"/>
              </a:spcBef>
              <a:spcAft>
                <a:spcPts val="0"/>
              </a:spcAft>
              <a:buSzPts val="1900"/>
              <a:buChar char="●"/>
            </a:pPr>
            <a:r>
              <a:rPr lang="en-US" sz="1900"/>
              <a:t>EDA: Basic Information, Missing Values, Dtypes, and Statistics of data.</a:t>
            </a:r>
            <a:endParaRPr sz="1900"/>
          </a:p>
          <a:p>
            <a:pPr indent="-349250" lvl="0" marL="457200" rtl="0" algn="l">
              <a:lnSpc>
                <a:spcPct val="115000"/>
              </a:lnSpc>
              <a:spcBef>
                <a:spcPts val="1000"/>
              </a:spcBef>
              <a:spcAft>
                <a:spcPts val="0"/>
              </a:spcAft>
              <a:buSzPts val="1900"/>
              <a:buChar char="●"/>
            </a:pPr>
            <a:r>
              <a:rPr lang="en-US" sz="1900"/>
              <a:t>Data Cleaning: Column Renaming, Schema enforcement</a:t>
            </a:r>
            <a:endParaRPr sz="1900"/>
          </a:p>
          <a:p>
            <a:pPr indent="-349250" lvl="0" marL="457200" rtl="0" algn="l">
              <a:lnSpc>
                <a:spcPct val="115000"/>
              </a:lnSpc>
              <a:spcBef>
                <a:spcPts val="1000"/>
              </a:spcBef>
              <a:spcAft>
                <a:spcPts val="1000"/>
              </a:spcAft>
              <a:buSzPts val="1900"/>
              <a:buChar char="●"/>
            </a:pPr>
            <a:r>
              <a:rPr lang="en-US" sz="1900"/>
              <a:t>Simulation Rules: Leaving Reasons, raise percentages, milestones </a:t>
            </a:r>
            <a:r>
              <a:rPr lang="en-US" sz="1900"/>
              <a:t>percentages</a:t>
            </a:r>
            <a:r>
              <a:rPr lang="en-US" sz="1900"/>
              <a:t>, monthly hiring rate, promotions milestones</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ab5a4a3928_0_62"/>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Bronze &amp; </a:t>
            </a:r>
            <a:r>
              <a:rPr b="0" lang="en-US"/>
              <a:t>Silver</a:t>
            </a:r>
            <a:r>
              <a:rPr b="0" lang="en-US"/>
              <a:t> Layers</a:t>
            </a:r>
            <a:endParaRPr/>
          </a:p>
        </p:txBody>
      </p:sp>
      <p:sp>
        <p:nvSpPr>
          <p:cNvPr id="172" name="Google Shape;172;g3ab5a4a3928_0_62"/>
          <p:cNvSpPr txBox="1"/>
          <p:nvPr>
            <p:ph idx="1" type="body"/>
          </p:nvPr>
        </p:nvSpPr>
        <p:spPr>
          <a:xfrm>
            <a:off x="438150" y="2143125"/>
            <a:ext cx="8429700" cy="3946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None/>
            </a:pPr>
            <a:r>
              <a:rPr b="1" lang="en-US" sz="1800"/>
              <a:t>Bronze - Raw Landing Zone</a:t>
            </a:r>
            <a:endParaRPr b="1" sz="1800"/>
          </a:p>
          <a:p>
            <a:pPr indent="-342900" lvl="0" marL="457200" rtl="0" algn="l">
              <a:spcBef>
                <a:spcPts val="1000"/>
              </a:spcBef>
              <a:spcAft>
                <a:spcPts val="0"/>
              </a:spcAft>
              <a:buSzPts val="1800"/>
              <a:buChar char="●"/>
            </a:pPr>
            <a:r>
              <a:rPr lang="en-US" sz="1800"/>
              <a:t>Fetches new files from source.</a:t>
            </a:r>
            <a:endParaRPr sz="1800"/>
          </a:p>
          <a:p>
            <a:pPr indent="-342900" lvl="0" marL="457200" rtl="0" algn="l">
              <a:spcBef>
                <a:spcPts val="0"/>
              </a:spcBef>
              <a:spcAft>
                <a:spcPts val="0"/>
              </a:spcAft>
              <a:buSzPts val="1800"/>
              <a:buChar char="●"/>
            </a:pPr>
            <a:r>
              <a:rPr lang="en-US" sz="1800"/>
              <a:t>Detects new CSVs and appends rows to a Bronze Delta table</a:t>
            </a:r>
            <a:endParaRPr sz="1800"/>
          </a:p>
          <a:p>
            <a:pPr indent="-342900" lvl="0" marL="457200" rtl="0" algn="l">
              <a:spcBef>
                <a:spcPts val="0"/>
              </a:spcBef>
              <a:spcAft>
                <a:spcPts val="0"/>
              </a:spcAft>
              <a:buSzPts val="1800"/>
              <a:buChar char="●"/>
            </a:pPr>
            <a:r>
              <a:rPr lang="en-US" sz="1800"/>
              <a:t>Adds ingestion timestamp; preserves original </a:t>
            </a:r>
            <a:r>
              <a:rPr lang="en-US" sz="1800"/>
              <a:t>structure</a:t>
            </a:r>
            <a:endParaRPr sz="1800"/>
          </a:p>
          <a:p>
            <a:pPr indent="0" lvl="0" marL="0" rtl="0" algn="l">
              <a:spcBef>
                <a:spcPts val="1000"/>
              </a:spcBef>
              <a:spcAft>
                <a:spcPts val="0"/>
              </a:spcAft>
              <a:buNone/>
            </a:pPr>
            <a:r>
              <a:t/>
            </a:r>
            <a:endParaRPr sz="1800"/>
          </a:p>
          <a:p>
            <a:pPr indent="0" lvl="0" marL="0" rtl="0" algn="l">
              <a:lnSpc>
                <a:spcPct val="100000"/>
              </a:lnSpc>
              <a:spcBef>
                <a:spcPts val="1000"/>
              </a:spcBef>
              <a:spcAft>
                <a:spcPts val="0"/>
              </a:spcAft>
              <a:buNone/>
            </a:pPr>
            <a:r>
              <a:rPr b="1" lang="en-US" sz="1800"/>
              <a:t>Silver - Cleaning SCD Type 2</a:t>
            </a:r>
            <a:endParaRPr b="1" sz="1800"/>
          </a:p>
          <a:p>
            <a:pPr indent="-342900" lvl="0" marL="457200" rtl="0" algn="l">
              <a:spcBef>
                <a:spcPts val="1000"/>
              </a:spcBef>
              <a:spcAft>
                <a:spcPts val="0"/>
              </a:spcAft>
              <a:buSzPts val="1800"/>
              <a:buChar char="●"/>
            </a:pPr>
            <a:r>
              <a:rPr lang="en-US" sz="1800"/>
              <a:t>Reads only new Bronze records based on latest ingestion timestamp</a:t>
            </a:r>
            <a:endParaRPr sz="1800"/>
          </a:p>
          <a:p>
            <a:pPr indent="-342900" lvl="0" marL="457200" rtl="0" algn="l">
              <a:spcBef>
                <a:spcPts val="0"/>
              </a:spcBef>
              <a:spcAft>
                <a:spcPts val="0"/>
              </a:spcAft>
              <a:buSzPts val="1800"/>
              <a:buChar char="●"/>
            </a:pPr>
            <a:r>
              <a:rPr lang="en-US" sz="1800"/>
              <a:t>Standardizes column names, schemas &amp; data types</a:t>
            </a:r>
            <a:endParaRPr sz="1800"/>
          </a:p>
          <a:p>
            <a:pPr indent="-342900" lvl="0" marL="457200" rtl="0" algn="l">
              <a:spcBef>
                <a:spcPts val="0"/>
              </a:spcBef>
              <a:spcAft>
                <a:spcPts val="0"/>
              </a:spcAft>
              <a:buSzPts val="1800"/>
              <a:buChar char="●"/>
            </a:pPr>
            <a:r>
              <a:rPr lang="en-US" sz="1800"/>
              <a:t>Fixes missing values, duplicates, inconsistent IDs</a:t>
            </a:r>
            <a:endParaRPr sz="1800"/>
          </a:p>
          <a:p>
            <a:pPr indent="-342900" lvl="0" marL="457200" rtl="0" algn="l">
              <a:spcBef>
                <a:spcPts val="0"/>
              </a:spcBef>
              <a:spcAft>
                <a:spcPts val="0"/>
              </a:spcAft>
              <a:buSzPts val="1800"/>
              <a:buChar char="●"/>
            </a:pPr>
            <a:r>
              <a:rPr lang="en-US" sz="1800"/>
              <a:t>Implements Slowly Changing Dimensions Type 2</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ab5a4a3928_0_74"/>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Gold Layer &amp; Pipeline Automation</a:t>
            </a:r>
            <a:endParaRPr/>
          </a:p>
        </p:txBody>
      </p:sp>
      <p:sp>
        <p:nvSpPr>
          <p:cNvPr id="179" name="Google Shape;179;g3ab5a4a3928_0_74"/>
          <p:cNvSpPr txBox="1"/>
          <p:nvPr>
            <p:ph idx="1" type="body"/>
          </p:nvPr>
        </p:nvSpPr>
        <p:spPr>
          <a:xfrm>
            <a:off x="438150" y="2143125"/>
            <a:ext cx="8429700" cy="39465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US" sz="1800"/>
              <a:t>Gold – Dimensional model</a:t>
            </a:r>
            <a:endParaRPr b="1" sz="1800"/>
          </a:p>
          <a:p>
            <a:pPr indent="-342900" lvl="0" marL="457200" rtl="0" algn="l">
              <a:spcBef>
                <a:spcPts val="1000"/>
              </a:spcBef>
              <a:spcAft>
                <a:spcPts val="0"/>
              </a:spcAft>
              <a:buSzPts val="1800"/>
              <a:buChar char="●"/>
            </a:pPr>
            <a:r>
              <a:rPr lang="en-US" sz="1800"/>
              <a:t>Dimensions: department, job title, location, job level, status, work mode</a:t>
            </a:r>
            <a:endParaRPr sz="1800"/>
          </a:p>
          <a:p>
            <a:pPr indent="-342900" lvl="0" marL="457200" rtl="0" algn="l">
              <a:spcBef>
                <a:spcPts val="0"/>
              </a:spcBef>
              <a:spcAft>
                <a:spcPts val="0"/>
              </a:spcAft>
              <a:buSzPts val="1800"/>
              <a:buChar char="●"/>
            </a:pPr>
            <a:r>
              <a:rPr lang="en-US" sz="1800"/>
              <a:t>Fact: employee history with salary, experience, performance, hire date</a:t>
            </a:r>
            <a:endParaRPr sz="1800"/>
          </a:p>
          <a:p>
            <a:pPr indent="-342900" lvl="0" marL="457200" rtl="0" algn="l">
              <a:spcBef>
                <a:spcPts val="0"/>
              </a:spcBef>
              <a:spcAft>
                <a:spcPts val="0"/>
              </a:spcAft>
              <a:buSzPts val="1800"/>
              <a:buChar char="●"/>
            </a:pPr>
            <a:r>
              <a:rPr lang="en-US" sz="1800"/>
              <a:t>Includes SCD2 fields (is_current, valid_from, valid_to)</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0"/>
              </a:spcAft>
              <a:buClr>
                <a:schemeClr val="dk1"/>
              </a:buClr>
              <a:buSzPts val="1100"/>
              <a:buFont typeface="Arial"/>
              <a:buNone/>
            </a:pPr>
            <a:r>
              <a:rPr b="1" lang="en-US" sz="1800"/>
              <a:t>Pipeline Automation:</a:t>
            </a:r>
            <a:endParaRPr b="1" sz="1800"/>
          </a:p>
          <a:p>
            <a:pPr indent="-342900" lvl="0" marL="457200" rtl="0" algn="l">
              <a:spcBef>
                <a:spcPts val="1000"/>
              </a:spcBef>
              <a:spcAft>
                <a:spcPts val="0"/>
              </a:spcAft>
              <a:buSzPts val="1800"/>
              <a:buChar char="●"/>
            </a:pPr>
            <a:r>
              <a:rPr lang="en-US" sz="1800"/>
              <a:t>Databricks Job runs:</a:t>
            </a:r>
            <a:endParaRPr sz="1800"/>
          </a:p>
          <a:p>
            <a:pPr indent="-342900" lvl="1" marL="914400" rtl="0" algn="l">
              <a:spcBef>
                <a:spcPts val="0"/>
              </a:spcBef>
              <a:spcAft>
                <a:spcPts val="0"/>
              </a:spcAft>
              <a:buSzPts val="1800"/>
              <a:buChar char="○"/>
            </a:pPr>
            <a:r>
              <a:rPr lang="en-US" sz="1800"/>
              <a:t>Bronze → Silver → Gold</a:t>
            </a:r>
            <a:endParaRPr sz="1800"/>
          </a:p>
          <a:p>
            <a:pPr indent="-342900" lvl="0" marL="457200" rtl="0" algn="l">
              <a:spcBef>
                <a:spcPts val="0"/>
              </a:spcBef>
              <a:spcAft>
                <a:spcPts val="0"/>
              </a:spcAft>
              <a:buSzPts val="1800"/>
              <a:buChar char="●"/>
            </a:pPr>
            <a:r>
              <a:rPr lang="en-US" sz="1800"/>
              <a:t>Can be scheduled to refresh automatically when new snapshots arrive</a:t>
            </a:r>
            <a:endParaRPr sz="1800"/>
          </a:p>
          <a:p>
            <a:pPr indent="0" lvl="0" marL="0" rtl="0" algn="l">
              <a:lnSpc>
                <a:spcPct val="100000"/>
              </a:lnSpc>
              <a:spcBef>
                <a:spcPts val="1000"/>
              </a:spcBef>
              <a:spcAft>
                <a:spcPts val="0"/>
              </a:spcAft>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ab5a4a3928_1_52"/>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PowerBI</a:t>
            </a:r>
            <a:endParaRPr/>
          </a:p>
        </p:txBody>
      </p:sp>
      <p:pic>
        <p:nvPicPr>
          <p:cNvPr id="186" name="Google Shape;186;g3ab5a4a3928_1_52"/>
          <p:cNvPicPr preferRelativeResize="0"/>
          <p:nvPr/>
        </p:nvPicPr>
        <p:blipFill>
          <a:blip r:embed="rId3">
            <a:alphaModFix/>
          </a:blip>
          <a:stretch>
            <a:fillRect/>
          </a:stretch>
        </p:blipFill>
        <p:spPr>
          <a:xfrm>
            <a:off x="438150" y="2193071"/>
            <a:ext cx="8364625" cy="434067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ab5a4a3928_1_58"/>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Tableau</a:t>
            </a:r>
            <a:endParaRPr/>
          </a:p>
        </p:txBody>
      </p:sp>
      <p:pic>
        <p:nvPicPr>
          <p:cNvPr id="193" name="Google Shape;193;g3ab5a4a3928_1_58"/>
          <p:cNvPicPr preferRelativeResize="0"/>
          <p:nvPr/>
        </p:nvPicPr>
        <p:blipFill>
          <a:blip r:embed="rId3">
            <a:alphaModFix/>
          </a:blip>
          <a:stretch>
            <a:fillRect/>
          </a:stretch>
        </p:blipFill>
        <p:spPr>
          <a:xfrm>
            <a:off x="628100" y="2350750"/>
            <a:ext cx="7887800" cy="395189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ab5a4a3928_1_64"/>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Dash </a:t>
            </a:r>
            <a:r>
              <a:rPr b="0" lang="en-US"/>
              <a:t>Web Application</a:t>
            </a:r>
            <a:endParaRPr/>
          </a:p>
        </p:txBody>
      </p:sp>
      <p:pic>
        <p:nvPicPr>
          <p:cNvPr id="200" name="Google Shape;200;g3ab5a4a3928_1_64"/>
          <p:cNvPicPr preferRelativeResize="0"/>
          <p:nvPr/>
        </p:nvPicPr>
        <p:blipFill>
          <a:blip r:embed="rId3">
            <a:alphaModFix/>
          </a:blip>
          <a:stretch>
            <a:fillRect/>
          </a:stretch>
        </p:blipFill>
        <p:spPr>
          <a:xfrm>
            <a:off x="637888" y="2216725"/>
            <a:ext cx="7868226" cy="41474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ab5a4a3928_0_68"/>
          <p:cNvSpPr txBox="1"/>
          <p:nvPr>
            <p:ph type="title"/>
          </p:nvPr>
        </p:nvSpPr>
        <p:spPr>
          <a:xfrm>
            <a:off x="3048000" y="3081300"/>
            <a:ext cx="30480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lang="en-US" sz="4300"/>
              <a:t>Live Demo</a:t>
            </a:r>
            <a:endParaRPr sz="4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ab5a4a3928_3_30"/>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Lessons Learned &amp; Future Work</a:t>
            </a:r>
            <a:endParaRPr/>
          </a:p>
        </p:txBody>
      </p:sp>
      <p:sp>
        <p:nvSpPr>
          <p:cNvPr id="213" name="Google Shape;213;g3ab5a4a3928_3_30"/>
          <p:cNvSpPr txBox="1"/>
          <p:nvPr>
            <p:ph idx="1" type="body"/>
          </p:nvPr>
        </p:nvSpPr>
        <p:spPr>
          <a:xfrm>
            <a:off x="438150" y="2143125"/>
            <a:ext cx="8429700" cy="39465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1000"/>
              </a:spcBef>
              <a:spcAft>
                <a:spcPts val="0"/>
              </a:spcAft>
              <a:buNone/>
            </a:pPr>
            <a:r>
              <a:rPr b="1" lang="en-US" sz="1800"/>
              <a:t>Lessons Learned</a:t>
            </a:r>
            <a:endParaRPr b="1" sz="1800"/>
          </a:p>
          <a:p>
            <a:pPr indent="-342900" lvl="0" marL="457200" rtl="0" algn="l">
              <a:spcBef>
                <a:spcPts val="1000"/>
              </a:spcBef>
              <a:spcAft>
                <a:spcPts val="0"/>
              </a:spcAft>
              <a:buSzPts val="1800"/>
              <a:buChar char="●"/>
            </a:pPr>
            <a:r>
              <a:rPr lang="en-US" sz="1800"/>
              <a:t>Even simulated data requires real data cleaning and validation</a:t>
            </a:r>
            <a:endParaRPr sz="1800"/>
          </a:p>
          <a:p>
            <a:pPr indent="-342900" lvl="0" marL="457200" rtl="0" algn="l">
              <a:spcBef>
                <a:spcPts val="0"/>
              </a:spcBef>
              <a:spcAft>
                <a:spcPts val="0"/>
              </a:spcAft>
              <a:buSzPts val="1800"/>
              <a:buChar char="●"/>
            </a:pPr>
            <a:r>
              <a:rPr lang="en-US" sz="1800"/>
              <a:t>Medallion Architecture helped separate ingestion, cleaning, and analytics</a:t>
            </a:r>
            <a:endParaRPr sz="1800"/>
          </a:p>
          <a:p>
            <a:pPr indent="-342900" lvl="0" marL="457200" rtl="0" algn="l">
              <a:spcBef>
                <a:spcPts val="0"/>
              </a:spcBef>
              <a:spcAft>
                <a:spcPts val="0"/>
              </a:spcAft>
              <a:buSzPts val="1800"/>
              <a:buChar char="●"/>
            </a:pPr>
            <a:r>
              <a:rPr lang="en-US" sz="1800"/>
              <a:t>SCD Type 2 and a Kimball model enabled historical analysis, not just current snapshots</a:t>
            </a:r>
            <a:endParaRPr sz="1800"/>
          </a:p>
          <a:p>
            <a:pPr indent="-342900" lvl="0" marL="457200" rtl="0" algn="l">
              <a:spcBef>
                <a:spcPts val="0"/>
              </a:spcBef>
              <a:spcAft>
                <a:spcPts val="0"/>
              </a:spcAft>
              <a:buSzPts val="1800"/>
              <a:buChar char="●"/>
            </a:pPr>
            <a:r>
              <a:rPr lang="en-US" sz="1800"/>
              <a:t>Choosing Dash kept the focus on analytics and data modeling, instead of heavy web infrastructure</a:t>
            </a:r>
            <a:endParaRPr sz="1800"/>
          </a:p>
          <a:p>
            <a:pPr indent="0" lvl="0" marL="0" rtl="0" algn="l">
              <a:spcBef>
                <a:spcPts val="1000"/>
              </a:spcBef>
              <a:spcAft>
                <a:spcPts val="0"/>
              </a:spcAft>
              <a:buNone/>
            </a:pPr>
            <a:r>
              <a:t/>
            </a:r>
            <a:endParaRPr sz="1800"/>
          </a:p>
          <a:p>
            <a:pPr indent="0" lvl="0" marL="0" rtl="0" algn="l">
              <a:spcBef>
                <a:spcPts val="1000"/>
              </a:spcBef>
              <a:spcAft>
                <a:spcPts val="0"/>
              </a:spcAft>
              <a:buClr>
                <a:schemeClr val="dk1"/>
              </a:buClr>
              <a:buSzPts val="1100"/>
              <a:buFont typeface="Arial"/>
              <a:buNone/>
            </a:pPr>
            <a:r>
              <a:rPr b="1" lang="en-US" sz="1800"/>
              <a:t>Future Work</a:t>
            </a:r>
            <a:endParaRPr b="1" sz="1800"/>
          </a:p>
          <a:p>
            <a:pPr indent="-342900" lvl="0" marL="457200" rtl="0" algn="l">
              <a:spcBef>
                <a:spcPts val="1000"/>
              </a:spcBef>
              <a:spcAft>
                <a:spcPts val="0"/>
              </a:spcAft>
              <a:buSzPts val="1800"/>
              <a:buChar char="●"/>
            </a:pPr>
            <a:r>
              <a:rPr lang="en-US" sz="1800"/>
              <a:t>Connect pipeline to real HR data with proper privacy and governance</a:t>
            </a:r>
            <a:endParaRPr sz="1800"/>
          </a:p>
          <a:p>
            <a:pPr indent="-342900" lvl="0" marL="457200" rtl="0" algn="l">
              <a:spcBef>
                <a:spcPts val="0"/>
              </a:spcBef>
              <a:spcAft>
                <a:spcPts val="0"/>
              </a:spcAft>
              <a:buSzPts val="1800"/>
              <a:buChar char="●"/>
            </a:pPr>
            <a:r>
              <a:rPr lang="en-US" sz="1800"/>
              <a:t>Add scheduling, monitoring, and alerts for Databricks Jobs</a:t>
            </a:r>
            <a:endParaRPr sz="1800"/>
          </a:p>
          <a:p>
            <a:pPr indent="-342900" lvl="0" marL="457200" rtl="0" algn="l">
              <a:spcBef>
                <a:spcPts val="0"/>
              </a:spcBef>
              <a:spcAft>
                <a:spcPts val="0"/>
              </a:spcAft>
              <a:buSzPts val="1800"/>
              <a:buChar char="●"/>
            </a:pPr>
            <a:r>
              <a:rPr lang="en-US" sz="1800"/>
              <a:t>Implement anonymization and role-based dashboards</a:t>
            </a:r>
            <a:endParaRPr sz="1800"/>
          </a:p>
          <a:p>
            <a:pPr indent="-342900" lvl="0" marL="457200" rtl="0" algn="l">
              <a:spcBef>
                <a:spcPts val="0"/>
              </a:spcBef>
              <a:spcAft>
                <a:spcPts val="0"/>
              </a:spcAft>
              <a:buSzPts val="1800"/>
              <a:buChar char="●"/>
            </a:pPr>
            <a:r>
              <a:rPr lang="en-US" sz="1800"/>
              <a:t>Build predictive models (e.g., attrition risk, promotion likelihood)</a:t>
            </a:r>
            <a:endParaRPr sz="1800"/>
          </a:p>
          <a:p>
            <a:pPr indent="-342900" lvl="0" marL="457200" rtl="0" algn="l">
              <a:spcBef>
                <a:spcPts val="0"/>
              </a:spcBef>
              <a:spcAft>
                <a:spcPts val="0"/>
              </a:spcAft>
              <a:buSzPts val="1800"/>
              <a:buChar char="●"/>
            </a:pPr>
            <a:r>
              <a:rPr lang="en-US" sz="1800"/>
              <a:t>Deploy Dash to a cloud environment, using the Gold layer as a single source of truth</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ab5a4a3928_3_37"/>
          <p:cNvSpPr txBox="1"/>
          <p:nvPr>
            <p:ph type="title"/>
          </p:nvPr>
        </p:nvSpPr>
        <p:spPr>
          <a:xfrm>
            <a:off x="438149" y="1352551"/>
            <a:ext cx="8429700" cy="695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2D500"/>
              </a:buClr>
              <a:buSzPts val="3200"/>
              <a:buFont typeface="Arial"/>
              <a:buNone/>
            </a:pPr>
            <a:r>
              <a:rPr b="0" lang="en-US"/>
              <a:t>C</a:t>
            </a:r>
            <a:r>
              <a:rPr b="0" lang="en-US"/>
              <a:t>onclusion</a:t>
            </a:r>
            <a:endParaRPr/>
          </a:p>
        </p:txBody>
      </p:sp>
      <p:sp>
        <p:nvSpPr>
          <p:cNvPr id="220" name="Google Shape;220;g3ab5a4a3928_3_37"/>
          <p:cNvSpPr txBox="1"/>
          <p:nvPr>
            <p:ph idx="1" type="body"/>
          </p:nvPr>
        </p:nvSpPr>
        <p:spPr>
          <a:xfrm>
            <a:off x="438150" y="2143125"/>
            <a:ext cx="8429700" cy="3946500"/>
          </a:xfrm>
          <a:prstGeom prst="rect">
            <a:avLst/>
          </a:prstGeom>
          <a:noFill/>
          <a:ln>
            <a:noFill/>
          </a:ln>
        </p:spPr>
        <p:txBody>
          <a:bodyPr anchorCtr="0" anchor="t" bIns="45700" lIns="91425" spcFirstLastPara="1" rIns="91425" wrap="square" tIns="45700">
            <a:normAutofit/>
          </a:bodyPr>
          <a:lstStyle/>
          <a:p>
            <a:pPr indent="-330200" lvl="0" marL="342900" rtl="0" algn="l">
              <a:spcBef>
                <a:spcPts val="1000"/>
              </a:spcBef>
              <a:spcAft>
                <a:spcPts val="0"/>
              </a:spcAft>
              <a:buSzPts val="1800"/>
              <a:buChar char="●"/>
            </a:pPr>
            <a:r>
              <a:rPr lang="en-US" sz="1800"/>
              <a:t>Built an end-to-end HR data engineering solution</a:t>
            </a:r>
            <a:endParaRPr sz="1800"/>
          </a:p>
          <a:p>
            <a:pPr indent="-330200" lvl="0" marL="342900" rtl="0" algn="l">
              <a:spcBef>
                <a:spcPts val="1000"/>
              </a:spcBef>
              <a:spcAft>
                <a:spcPts val="0"/>
              </a:spcAft>
              <a:buSzPts val="1800"/>
              <a:buChar char="●"/>
            </a:pPr>
            <a:r>
              <a:rPr lang="en-US" sz="1800"/>
              <a:t>Simulated 7 years of workforce history from a Kaggle dataset</a:t>
            </a:r>
            <a:endParaRPr sz="1800"/>
          </a:p>
          <a:p>
            <a:pPr indent="-330200" lvl="0" marL="342900" rtl="0" algn="l">
              <a:spcBef>
                <a:spcPts val="1000"/>
              </a:spcBef>
              <a:spcAft>
                <a:spcPts val="0"/>
              </a:spcAft>
              <a:buSzPts val="1800"/>
              <a:buChar char="●"/>
            </a:pPr>
            <a:r>
              <a:rPr lang="en-US" sz="1800"/>
              <a:t>Implemented a Databricks Medallion pipeline with SCD2 and a Gold dimensional model</a:t>
            </a:r>
            <a:endParaRPr sz="1800"/>
          </a:p>
          <a:p>
            <a:pPr indent="-330200" lvl="0" marL="342900" rtl="0" algn="l">
              <a:spcBef>
                <a:spcPts val="1000"/>
              </a:spcBef>
              <a:spcAft>
                <a:spcPts val="0"/>
              </a:spcAft>
              <a:buSzPts val="1800"/>
              <a:buChar char="●"/>
            </a:pPr>
            <a:r>
              <a:rPr lang="en-US" sz="1800"/>
              <a:t>Developed a Dash HR analytics dashboard plus optional Power BI and CSV exports</a:t>
            </a:r>
            <a:endParaRPr sz="1800"/>
          </a:p>
          <a:p>
            <a:pPr indent="-330200" lvl="0" marL="342900" rtl="0" algn="l">
              <a:spcBef>
                <a:spcPts val="1000"/>
              </a:spcBef>
              <a:spcAft>
                <a:spcPts val="0"/>
              </a:spcAft>
              <a:buSzPts val="1800"/>
              <a:buChar char="●"/>
            </a:pPr>
            <a:r>
              <a:rPr lang="en-US" sz="1800"/>
              <a:t>Provides a foundation for a production-ready HR analytics platform</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ab5a4a3928_1_75"/>
          <p:cNvSpPr txBox="1"/>
          <p:nvPr>
            <p:ph type="title"/>
          </p:nvPr>
        </p:nvSpPr>
        <p:spPr>
          <a:xfrm>
            <a:off x="3159675" y="3305625"/>
            <a:ext cx="2958000" cy="684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2D500"/>
              </a:buClr>
              <a:buSzPts val="2592"/>
              <a:buFont typeface="Arial"/>
              <a:buNone/>
            </a:pPr>
            <a:r>
              <a:rPr lang="en-US" sz="3684"/>
              <a:t>Questions?</a:t>
            </a:r>
            <a:endParaRPr sz="3684"/>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ab5a4a3928_1_70"/>
          <p:cNvSpPr txBox="1"/>
          <p:nvPr/>
        </p:nvSpPr>
        <p:spPr>
          <a:xfrm>
            <a:off x="190475" y="2609100"/>
            <a:ext cx="3252000" cy="163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7200"/>
              <a:buFont typeface="Arial"/>
              <a:buNone/>
            </a:pPr>
            <a:r>
              <a:rPr lang="en-US" sz="1800">
                <a:solidFill>
                  <a:schemeClr val="dk1"/>
                </a:solidFill>
              </a:rPr>
              <a:t>Jay Clark Bermudez</a:t>
            </a:r>
            <a:endParaRPr sz="1800">
              <a:solidFill>
                <a:schemeClr val="dk1"/>
              </a:solidFill>
            </a:endParaRPr>
          </a:p>
          <a:p>
            <a:pPr indent="0" lvl="0" marL="0" marR="0" rtl="0" algn="l">
              <a:lnSpc>
                <a:spcPct val="100000"/>
              </a:lnSpc>
              <a:spcBef>
                <a:spcPts val="0"/>
              </a:spcBef>
              <a:spcAft>
                <a:spcPts val="0"/>
              </a:spcAft>
              <a:buClr>
                <a:schemeClr val="dk1"/>
              </a:buClr>
              <a:buSzPts val="7200"/>
              <a:buFont typeface="Arial"/>
              <a:buNone/>
            </a:pPr>
            <a:r>
              <a:t/>
            </a:r>
            <a:endParaRPr sz="1800">
              <a:solidFill>
                <a:schemeClr val="dk1"/>
              </a:solidFill>
            </a:endParaRPr>
          </a:p>
          <a:p>
            <a:pPr indent="0" lvl="0" marL="0" marR="0" rtl="0" algn="l">
              <a:lnSpc>
                <a:spcPct val="100000"/>
              </a:lnSpc>
              <a:spcBef>
                <a:spcPts val="0"/>
              </a:spcBef>
              <a:spcAft>
                <a:spcPts val="0"/>
              </a:spcAft>
              <a:buClr>
                <a:schemeClr val="dk1"/>
              </a:buClr>
              <a:buSzPts val="7200"/>
              <a:buFont typeface="Arial"/>
              <a:buNone/>
            </a:pPr>
            <a:r>
              <a:rPr b="0" i="0" lang="en-US" sz="1800" u="none" cap="none" strike="noStrike">
                <a:solidFill>
                  <a:schemeClr val="dk1"/>
                </a:solidFill>
                <a:latin typeface="Arial"/>
                <a:ea typeface="Arial"/>
                <a:cs typeface="Arial"/>
                <a:sym typeface="Arial"/>
              </a:rPr>
              <a:t>Matheus Filipe Figueiredo</a:t>
            </a:r>
            <a:endParaRPr sz="1800"/>
          </a:p>
          <a:p>
            <a:pPr indent="0" lvl="0" marL="0" marR="0" rtl="0" algn="l">
              <a:lnSpc>
                <a:spcPct val="100000"/>
              </a:lnSpc>
              <a:spcBef>
                <a:spcPts val="0"/>
              </a:spcBef>
              <a:spcAft>
                <a:spcPts val="0"/>
              </a:spcAft>
              <a:buClr>
                <a:schemeClr val="dk1"/>
              </a:buClr>
              <a:buSzPts val="7200"/>
              <a:buFont typeface="Arial"/>
              <a:buNone/>
            </a:pPr>
            <a:r>
              <a:t/>
            </a:r>
            <a:endParaRPr sz="1800">
              <a:solidFill>
                <a:schemeClr val="dk1"/>
              </a:solidFill>
            </a:endParaRPr>
          </a:p>
          <a:p>
            <a:pPr indent="0" lvl="0" marL="0" marR="0" rtl="0" algn="l">
              <a:lnSpc>
                <a:spcPct val="100000"/>
              </a:lnSpc>
              <a:spcBef>
                <a:spcPts val="0"/>
              </a:spcBef>
              <a:spcAft>
                <a:spcPts val="0"/>
              </a:spcAft>
              <a:buClr>
                <a:schemeClr val="dk1"/>
              </a:buClr>
              <a:buSzPts val="7200"/>
              <a:buFont typeface="Arial"/>
              <a:buNone/>
            </a:pPr>
            <a:r>
              <a:rPr b="0" i="0" lang="en-US" sz="1800" u="none" cap="none" strike="noStrike">
                <a:solidFill>
                  <a:schemeClr val="dk1"/>
                </a:solidFill>
                <a:latin typeface="Arial"/>
                <a:ea typeface="Arial"/>
                <a:cs typeface="Arial"/>
                <a:sym typeface="Arial"/>
              </a:rPr>
              <a:t>Bruno do Nascimento Beserra</a:t>
            </a:r>
            <a:endParaRPr sz="1800"/>
          </a:p>
          <a:p>
            <a:pPr indent="0" lvl="0" marL="0" marR="0" rtl="0" algn="l">
              <a:lnSpc>
                <a:spcPct val="100000"/>
              </a:lnSpc>
              <a:spcBef>
                <a:spcPts val="1000"/>
              </a:spcBef>
              <a:spcAft>
                <a:spcPts val="0"/>
              </a:spcAft>
              <a:buClr>
                <a:schemeClr val="dk1"/>
              </a:buClr>
              <a:buSzPts val="7200"/>
              <a:buFont typeface="Arial"/>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ollege Green">
      <a:dk1>
        <a:srgbClr val="000000"/>
      </a:dk1>
      <a:lt1>
        <a:srgbClr val="FFFFFF"/>
      </a:lt1>
      <a:dk2>
        <a:srgbClr val="44546A"/>
      </a:dk2>
      <a:lt2>
        <a:srgbClr val="E7E6E6"/>
      </a:lt2>
      <a:accent1>
        <a:srgbClr val="C2D5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2021-05-13T17:07:16Z</dcterms:created>
  <dc:creator>Moravic-Balkanski, Natasa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0x010100A2D6A58CC2F6ED48978BB0E219D882FE</vt:lpwstr>
  </property>
  <property fmtid="{D5CDD505-2E9C-101B-9397-08002B2CF9AE}" pid="3" name="Order">
    <vt:r8>100.0</vt:r8>
  </property>
  <property fmtid="{D5CDD505-2E9C-101B-9397-08002B2CF9AE}" pid="4" name="Record Series">
    <vt:lpwstr>1;#AD10 - Project Management|5e0995e7-bf4a-4456-878b-22da6837cb2b</vt:lpwstr>
  </property>
  <property fmtid="{D5CDD505-2E9C-101B-9397-08002B2CF9AE}" pid="5" name="Record Status">
    <vt:lpwstr/>
  </property>
  <property fmtid="{D5CDD505-2E9C-101B-9397-08002B2CF9AE}" pid="6" name="MediaServiceImageTags">
    <vt:lpwstr/>
  </property>
  <property fmtid="{D5CDD505-2E9C-101B-9397-08002B2CF9AE}" pid="7" name="docIndexRef">
    <vt:lpwstr>74d8ff06-099c-4fff-bf9d-2dafbd315bfb</vt:lpwstr>
  </property>
  <property fmtid="{D5CDD505-2E9C-101B-9397-08002B2CF9AE}" pid="8" name="bjDocumentSecurityLabel">
    <vt:lpwstr>This item has no classification</vt:lpwstr>
  </property>
  <property fmtid="{D5CDD505-2E9C-101B-9397-08002B2CF9AE}" pid="9" name="bjClsUserRVM">
    <vt:lpwstr>[]</vt:lpwstr>
  </property>
  <property fmtid="{D5CDD505-2E9C-101B-9397-08002B2CF9AE}" pid="10" name="bjSaver">
    <vt:lpwstr>pMYs1aZS+wTYg4mF3/sGc740TnoWrmOq</vt:lpwstr>
  </property>
  <property fmtid="{D5CDD505-2E9C-101B-9397-08002B2CF9AE}" pid="11" name="Document_x0020_Type">
    <vt:lpwstr/>
  </property>
  <property fmtid="{D5CDD505-2E9C-101B-9397-08002B2CF9AE}" pid="12" name="Year">
    <vt:lpwstr/>
  </property>
  <property fmtid="{D5CDD505-2E9C-101B-9397-08002B2CF9AE}" pid="13" name="Document Type">
    <vt:lpwstr/>
  </property>
  <property fmtid="{D5CDD505-2E9C-101B-9397-08002B2CF9AE}" pid="14" name="OwlContentTargetOptionsFour">
    <vt:lpwstr/>
  </property>
  <property fmtid="{D5CDD505-2E9C-101B-9397-08002B2CF9AE}" pid="15" name="fa97dc92026541068557eab0dbabd8be">
    <vt:lpwstr/>
  </property>
  <property fmtid="{D5CDD505-2E9C-101B-9397-08002B2CF9AE}" pid="16" name="OwlContentTargetOptionsThree">
    <vt:lpwstr/>
  </property>
  <property fmtid="{D5CDD505-2E9C-101B-9397-08002B2CF9AE}" pid="17" name="OwlDocPortalAudience">
    <vt:lpwstr/>
  </property>
  <property fmtid="{D5CDD505-2E9C-101B-9397-08002B2CF9AE}" pid="18" name="caf0dd7392ad4fafb49c81699e7f4946">
    <vt:lpwstr/>
  </property>
  <property fmtid="{D5CDD505-2E9C-101B-9397-08002B2CF9AE}" pid="19" name="OwlDocPortalDepartment">
    <vt:lpwstr/>
  </property>
  <property fmtid="{D5CDD505-2E9C-101B-9397-08002B2CF9AE}" pid="20" name="OwlContentTargetOptionsOne">
    <vt:lpwstr/>
  </property>
  <property fmtid="{D5CDD505-2E9C-101B-9397-08002B2CF9AE}" pid="21" name="m0fc3f78225244e280898e3f12e6d374">
    <vt:lpwstr/>
  </property>
  <property fmtid="{D5CDD505-2E9C-101B-9397-08002B2CF9AE}" pid="22" name="maea4bced50d4353a6d425e6b9c84f1a">
    <vt:lpwstr/>
  </property>
  <property fmtid="{D5CDD505-2E9C-101B-9397-08002B2CF9AE}" pid="23" name="fd304f0da40148d085298b3ff2d12f92">
    <vt:lpwstr/>
  </property>
  <property fmtid="{D5CDD505-2E9C-101B-9397-08002B2CF9AE}" pid="24" name="OwlTags">
    <vt:lpwstr/>
  </property>
  <property fmtid="{D5CDD505-2E9C-101B-9397-08002B2CF9AE}" pid="25" name="ha644276d6a843c399f6d79a304db042">
    <vt:lpwstr/>
  </property>
  <property fmtid="{D5CDD505-2E9C-101B-9397-08002B2CF9AE}" pid="26" name="h017392b60ce4c22b99fd52c2ca1001f">
    <vt:lpwstr/>
  </property>
  <property fmtid="{D5CDD505-2E9C-101B-9397-08002B2CF9AE}" pid="27" name="TaxCatchAll">
    <vt:lpwstr/>
  </property>
  <property fmtid="{D5CDD505-2E9C-101B-9397-08002B2CF9AE}" pid="28" name="OwlContentTargetOptionsTwo">
    <vt:lpwstr/>
  </property>
</Properties>
</file>